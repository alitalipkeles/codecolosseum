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Calibri"/>
              </a:rPr>
              <a:t>Slaytı taşımak için tıklayın</a:t>
            </a:r>
            <a:endParaRPr b="0" lang="en-US" sz="1800" spc="-1" strike="noStrike">
              <a:solidFill>
                <a:schemeClr val="dk1"/>
              </a:solidFill>
              <a:latin typeface="Calibri"/>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Notların biçimini düzenlemek için tıklayın</a:t>
            </a:r>
            <a:endParaRPr b="0" lang="en-US" sz="2000" spc="-1" strike="noStrike">
              <a:solidFill>
                <a:srgbClr val="000000"/>
              </a:solidFill>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9A92828-F55A-44D0-A666-270C24C12A6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5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6790BC6-99F1-434C-9EB5-94307B5AFE7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6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07AB1EF-6136-4368-B4B3-434F12BB84C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6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F487D5D-9B53-4A3E-8B43-D8414903444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6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3B8781A-7D9C-4044-837E-D4024E5D26D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7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7D7C58A-A927-4805-AFEE-246057044AE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7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B41A3F-91E9-4B7F-8DAA-9C1FBACBD93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7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15CC38-1A28-4BD8-A600-A2956EB6656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8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767C4B-8956-4373-A8D1-F700FD55186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8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885C690-5952-4D0E-8514-20C2187474D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8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8076C8F-A276-418B-8B82-634A36D5BC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8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6846A35-EB51-4F1C-BD8F-3837DFD00F5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9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D65862C-F8A0-43A0-B56F-D456EA06BD4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9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5CF26E3-F091-44EC-A917-F93578FB86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buNone/>
            </a:pPr>
            <a:endParaRPr b="0" lang="en-US" sz="1800" spc="-1" strike="noStrike">
              <a:solidFill>
                <a:srgbClr val="000000"/>
              </a:solidFill>
              <a:latin typeface="Arial"/>
            </a:endParaRPr>
          </a:p>
        </p:txBody>
      </p:sp>
      <p:sp>
        <p:nvSpPr>
          <p:cNvPr id="29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A503276-2746-45B4-A20F-464C8ADD54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Ana başlık metnini düzenlemek için tıklayın</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Anahat metninin biçimini düzenlemek için tıklayın</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İkinci Anahat Düzeyi</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Üçüncü Anahat Düzeyi</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Dördüncü Anahat Düzeyi</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Beşinci Anahat Düzeyi</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Altıncı Anahat Düzeyi</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Yedinci Anahat Düzeyi</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44" name="Shape 0"/>
          <p:cNvSpPr/>
          <p:nvPr/>
        </p:nvSpPr>
        <p:spPr>
          <a:xfrm>
            <a:off x="0" y="0"/>
            <a:ext cx="9143640" cy="54360"/>
          </a:xfrm>
          <a:prstGeom prst="rect">
            <a:avLst/>
          </a:prstGeom>
          <a:solidFill>
            <a:srgbClr val="2ec4b6"/>
          </a:solidFill>
          <a:ln w="0">
            <a:noFill/>
          </a:ln>
        </p:spPr>
        <p:style>
          <a:lnRef idx="0"/>
          <a:fillRef idx="0"/>
          <a:effectRef idx="0"/>
          <a:fontRef idx="minor"/>
        </p:style>
        <p:txBody>
          <a:bodyPr lIns="90000" rIns="90000" tIns="9720" bIns="9720" anchor="t">
            <a:noAutofit/>
          </a:bodyPr>
          <a:p>
            <a:endParaRPr b="0" lang="en-US" sz="1800" spc="-1" strike="noStrike">
              <a:solidFill>
                <a:srgbClr val="000000"/>
              </a:solidFill>
              <a:latin typeface="Arial"/>
            </a:endParaRPr>
          </a:p>
        </p:txBody>
      </p:sp>
      <p:sp>
        <p:nvSpPr>
          <p:cNvPr id="45" name="Text 1"/>
          <p:cNvSpPr/>
          <p:nvPr/>
        </p:nvSpPr>
        <p:spPr>
          <a:xfrm>
            <a:off x="731520" y="1188720"/>
            <a:ext cx="731484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800" spc="-1" strike="noStrike">
                <a:solidFill>
                  <a:srgbClr val="ffffff"/>
                </a:solidFill>
                <a:latin typeface="Trebuchet MS"/>
                <a:ea typeface="Trebuchet MS"/>
              </a:rPr>
              <a:t>CodeColosseum</a:t>
            </a:r>
            <a:endParaRPr b="0" lang="en-US" sz="4800" spc="-1" strike="noStrike">
              <a:solidFill>
                <a:srgbClr val="ffffff"/>
              </a:solidFill>
              <a:latin typeface="Arial"/>
            </a:endParaRPr>
          </a:p>
        </p:txBody>
      </p:sp>
      <p:sp>
        <p:nvSpPr>
          <p:cNvPr id="46" name="Text 2"/>
          <p:cNvSpPr/>
          <p:nvPr/>
        </p:nvSpPr>
        <p:spPr>
          <a:xfrm>
            <a:off x="731520" y="2011680"/>
            <a:ext cx="73148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2200" spc="-1" strike="noStrike">
                <a:solidFill>
                  <a:srgbClr val="2ec4b6"/>
                </a:solidFill>
                <a:latin typeface="Calibri"/>
                <a:ea typeface="Calibri"/>
              </a:rPr>
              <a:t>1v1 Competitive Coding Platform</a:t>
            </a:r>
            <a:endParaRPr b="0" lang="en-US" sz="2200" spc="-1" strike="noStrike">
              <a:solidFill>
                <a:srgbClr val="ffffff"/>
              </a:solidFill>
              <a:latin typeface="Arial"/>
            </a:endParaRPr>
          </a:p>
        </p:txBody>
      </p:sp>
      <p:sp>
        <p:nvSpPr>
          <p:cNvPr id="47" name="Shape 3"/>
          <p:cNvSpPr/>
          <p:nvPr/>
        </p:nvSpPr>
        <p:spPr>
          <a:xfrm>
            <a:off x="731520" y="2743200"/>
            <a:ext cx="2285640" cy="36360"/>
          </a:xfrm>
          <a:prstGeom prst="rect">
            <a:avLst/>
          </a:prstGeom>
          <a:solidFill>
            <a:srgbClr val="1c7293"/>
          </a:solidFill>
          <a:ln w="0">
            <a:noFill/>
          </a:ln>
        </p:spPr>
        <p:style>
          <a:lnRef idx="0"/>
          <a:fillRef idx="0"/>
          <a:effectRef idx="0"/>
          <a:fontRef idx="minor"/>
        </p:style>
        <p:txBody>
          <a:bodyPr lIns="90000" rIns="90000" tIns="-8280" bIns="-8280" anchor="t">
            <a:noAutofit/>
          </a:bodyPr>
          <a:p>
            <a:endParaRPr b="0" lang="en-US" sz="1800" spc="-1" strike="noStrike">
              <a:solidFill>
                <a:srgbClr val="000000"/>
              </a:solidFill>
              <a:latin typeface="Arial"/>
            </a:endParaRPr>
          </a:p>
        </p:txBody>
      </p:sp>
      <p:sp>
        <p:nvSpPr>
          <p:cNvPr id="48" name="Text 4"/>
          <p:cNvSpPr/>
          <p:nvPr/>
        </p:nvSpPr>
        <p:spPr>
          <a:xfrm>
            <a:off x="731520" y="3017520"/>
            <a:ext cx="45716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a8b8cc"/>
                </a:solidFill>
                <a:latin typeface="Calibri"/>
                <a:ea typeface="Calibri"/>
              </a:rPr>
              <a:t>CSE3044 — Software Engineering</a:t>
            </a:r>
            <a:endParaRPr b="0" lang="en-US" sz="1400" spc="-1" strike="noStrike">
              <a:solidFill>
                <a:srgbClr val="ffffff"/>
              </a:solidFill>
              <a:latin typeface="Arial"/>
            </a:endParaRPr>
          </a:p>
          <a:p>
            <a:pPr defTabSz="914400">
              <a:lnSpc>
                <a:spcPct val="130000"/>
              </a:lnSpc>
              <a:tabLst>
                <a:tab algn="l" pos="0"/>
              </a:tabLst>
            </a:pPr>
            <a:r>
              <a:rPr b="0" lang="en-US" sz="1400" spc="-1" strike="noStrike">
                <a:solidFill>
                  <a:srgbClr val="a8b8cc"/>
                </a:solidFill>
                <a:latin typeface="Calibri"/>
                <a:ea typeface="Calibri"/>
              </a:rPr>
              <a:t>Spring 2025–2026</a:t>
            </a:r>
            <a:endParaRPr b="0" lang="en-US" sz="1400" spc="-1" strike="noStrike">
              <a:solidFill>
                <a:srgbClr val="ffffff"/>
              </a:solidFill>
              <a:latin typeface="Arial"/>
            </a:endParaRPr>
          </a:p>
        </p:txBody>
      </p:sp>
      <p:sp>
        <p:nvSpPr>
          <p:cNvPr id="49" name="Text 5"/>
          <p:cNvSpPr/>
          <p:nvPr/>
        </p:nvSpPr>
        <p:spPr>
          <a:xfrm>
            <a:off x="731520" y="3749040"/>
            <a:ext cx="45716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200" spc="-1" strike="noStrike">
                <a:solidFill>
                  <a:srgbClr val="e8edf3"/>
                </a:solidFill>
                <a:latin typeface="Calibri"/>
                <a:ea typeface="Calibri"/>
              </a:rPr>
              <a:t>Kerem Adalı (150123055)</a:t>
            </a:r>
            <a:endParaRPr b="0" lang="en-US" sz="1200" spc="-1" strike="noStrike">
              <a:solidFill>
                <a:srgbClr val="ffffff"/>
              </a:solidFill>
              <a:latin typeface="Arial"/>
            </a:endParaRPr>
          </a:p>
          <a:p>
            <a:pPr defTabSz="914400">
              <a:lnSpc>
                <a:spcPct val="140000"/>
              </a:lnSpc>
              <a:tabLst>
                <a:tab algn="l" pos="0"/>
              </a:tabLst>
            </a:pPr>
            <a:r>
              <a:rPr b="0" lang="en-US" sz="1200" spc="-1" strike="noStrike">
                <a:solidFill>
                  <a:srgbClr val="e8edf3"/>
                </a:solidFill>
                <a:latin typeface="Calibri"/>
                <a:ea typeface="Calibri"/>
              </a:rPr>
              <a:t>Buğra Kaya (150123045)</a:t>
            </a:r>
            <a:endParaRPr b="0" lang="en-US" sz="1200" spc="-1" strike="noStrike">
              <a:solidFill>
                <a:srgbClr val="ffffff"/>
              </a:solidFill>
              <a:latin typeface="Arial"/>
            </a:endParaRPr>
          </a:p>
          <a:p>
            <a:pPr defTabSz="914400">
              <a:lnSpc>
                <a:spcPct val="140000"/>
              </a:lnSpc>
              <a:tabLst>
                <a:tab algn="l" pos="0"/>
              </a:tabLst>
            </a:pPr>
            <a:r>
              <a:rPr b="0" lang="en-US" sz="1200" spc="-1" strike="noStrike">
                <a:solidFill>
                  <a:srgbClr val="e8edf3"/>
                </a:solidFill>
                <a:latin typeface="Calibri"/>
                <a:ea typeface="Calibri"/>
              </a:rPr>
              <a:t>Ali Talip Keleş (150122029)</a:t>
            </a:r>
            <a:endParaRPr b="0" lang="en-US" sz="1200" spc="-1" strike="noStrike">
              <a:solidFill>
                <a:srgbClr val="ffffff"/>
              </a:solidFill>
              <a:latin typeface="Arial"/>
            </a:endParaRPr>
          </a:p>
        </p:txBody>
      </p:sp>
      <p:sp>
        <p:nvSpPr>
          <p:cNvPr id="50"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51"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Problem Definition</a:t>
            </a:r>
            <a:endParaRPr b="0" lang="en-US" sz="3600" spc="-1" strike="noStrike">
              <a:solidFill>
                <a:srgbClr val="ffffff"/>
              </a:solidFill>
              <a:latin typeface="Arial"/>
            </a:endParaRPr>
          </a:p>
        </p:txBody>
      </p:sp>
      <p:sp>
        <p:nvSpPr>
          <p:cNvPr id="53" name="Shape 2"/>
          <p:cNvSpPr/>
          <p:nvPr/>
        </p:nvSpPr>
        <p:spPr>
          <a:xfrm>
            <a:off x="548640" y="1097280"/>
            <a:ext cx="4205880" cy="1279800"/>
          </a:xfrm>
          <a:prstGeom prst="roundRect">
            <a:avLst>
              <a:gd name="adj" fmla="val 7143"/>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Text 3"/>
          <p:cNvSpPr/>
          <p:nvPr/>
        </p:nvSpPr>
        <p:spPr>
          <a:xfrm>
            <a:off x="777240" y="1188720"/>
            <a:ext cx="38401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pc="-1" strike="noStrike">
                <a:solidFill>
                  <a:srgbClr val="2ec4b6"/>
                </a:solidFill>
                <a:latin typeface="Trebuchet MS"/>
                <a:ea typeface="Trebuchet MS"/>
              </a:rPr>
              <a:t>What is CodeColosseum?</a:t>
            </a:r>
            <a:endParaRPr b="0" lang="en-US" sz="1600" spc="-1" strike="noStrike">
              <a:solidFill>
                <a:srgbClr val="ffffff"/>
              </a:solidFill>
              <a:latin typeface="Arial"/>
            </a:endParaRPr>
          </a:p>
        </p:txBody>
      </p:sp>
      <p:sp>
        <p:nvSpPr>
          <p:cNvPr id="55" name="Text 4"/>
          <p:cNvSpPr/>
          <p:nvPr/>
        </p:nvSpPr>
        <p:spPr>
          <a:xfrm>
            <a:off x="777240" y="1554480"/>
            <a:ext cx="384012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100" spc="-1" strike="noStrike">
                <a:solidFill>
                  <a:srgbClr val="e8edf3"/>
                </a:solidFill>
                <a:latin typeface="Calibri"/>
                <a:ea typeface="Calibri"/>
              </a:rPr>
              <a:t>A web-based real-time 1v1 competitive programming platform where developers are matched by skill level, solve identical coding challenges head-to-head, and see their solutions evaluated instantly in a sandboxed environment.</a:t>
            </a:r>
            <a:endParaRPr b="0" lang="en-US" sz="1100" spc="-1" strike="noStrike">
              <a:solidFill>
                <a:srgbClr val="ffffff"/>
              </a:solidFill>
              <a:latin typeface="Arial"/>
            </a:endParaRPr>
          </a:p>
        </p:txBody>
      </p:sp>
      <p:sp>
        <p:nvSpPr>
          <p:cNvPr id="56" name="Shape 5"/>
          <p:cNvSpPr/>
          <p:nvPr/>
        </p:nvSpPr>
        <p:spPr>
          <a:xfrm>
            <a:off x="5029200" y="1097280"/>
            <a:ext cx="3840120" cy="1279800"/>
          </a:xfrm>
          <a:prstGeom prst="roundRect">
            <a:avLst>
              <a:gd name="adj" fmla="val 7143"/>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6"/>
          <p:cNvSpPr/>
          <p:nvPr/>
        </p:nvSpPr>
        <p:spPr>
          <a:xfrm>
            <a:off x="5257800" y="1188720"/>
            <a:ext cx="347436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pc="-1" strike="noStrike">
                <a:solidFill>
                  <a:srgbClr val="2ec4b6"/>
                </a:solidFill>
                <a:latin typeface="Trebuchet MS"/>
                <a:ea typeface="Trebuchet MS"/>
              </a:rPr>
              <a:t>Why does it matter?</a:t>
            </a:r>
            <a:endParaRPr b="0" lang="en-US" sz="1600" spc="-1" strike="noStrike">
              <a:solidFill>
                <a:srgbClr val="ffffff"/>
              </a:solidFill>
              <a:latin typeface="Arial"/>
            </a:endParaRPr>
          </a:p>
        </p:txBody>
      </p:sp>
      <p:sp>
        <p:nvSpPr>
          <p:cNvPr id="58" name="Text 7"/>
          <p:cNvSpPr/>
          <p:nvPr/>
        </p:nvSpPr>
        <p:spPr>
          <a:xfrm>
            <a:off x="5257800" y="1554480"/>
            <a:ext cx="34743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100" spc="-1" strike="noStrike">
                <a:solidFill>
                  <a:srgbClr val="e8edf3"/>
                </a:solidFill>
                <a:latin typeface="Calibri"/>
                <a:ea typeface="Calibri"/>
              </a:rPr>
              <a:t>Existing platforms (LeetCode, HackerRank) focus on solo practice. There is no mainstream, accessible platform offering real-time 1v1 head-to-head competitive coding with fair Elo-based matchmaking.</a:t>
            </a:r>
            <a:endParaRPr b="0" lang="en-US" sz="1100" spc="-1" strike="noStrike">
              <a:solidFill>
                <a:srgbClr val="ffffff"/>
              </a:solidFill>
              <a:latin typeface="Arial"/>
            </a:endParaRPr>
          </a:p>
        </p:txBody>
      </p:sp>
      <p:sp>
        <p:nvSpPr>
          <p:cNvPr id="59" name="Shape 8"/>
          <p:cNvSpPr/>
          <p:nvPr/>
        </p:nvSpPr>
        <p:spPr>
          <a:xfrm>
            <a:off x="548640" y="2743200"/>
            <a:ext cx="2651400" cy="1462680"/>
          </a:xfrm>
          <a:prstGeom prst="roundRect">
            <a:avLst>
              <a:gd name="adj" fmla="val 6250"/>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9"/>
          <p:cNvSpPr/>
          <p:nvPr/>
        </p:nvSpPr>
        <p:spPr>
          <a:xfrm>
            <a:off x="548640" y="2880360"/>
            <a:ext cx="265140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pc="-1" strike="noStrike">
                <a:solidFill>
                  <a:srgbClr val="000000"/>
                </a:solidFill>
                <a:latin typeface="Calibri"/>
              </a:rPr>
              <a:t>⚡</a:t>
            </a:r>
            <a:endParaRPr b="0" lang="en-US" sz="2800" spc="-1" strike="noStrike">
              <a:solidFill>
                <a:srgbClr val="ffffff"/>
              </a:solidFill>
              <a:latin typeface="Arial"/>
            </a:endParaRPr>
          </a:p>
        </p:txBody>
      </p:sp>
      <p:sp>
        <p:nvSpPr>
          <p:cNvPr id="61" name="Text 10"/>
          <p:cNvSpPr/>
          <p:nvPr/>
        </p:nvSpPr>
        <p:spPr>
          <a:xfrm>
            <a:off x="548640" y="3291840"/>
            <a:ext cx="265140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Trebuchet MS"/>
                <a:ea typeface="Trebuchet MS"/>
              </a:rPr>
              <a:t>Real-time</a:t>
            </a:r>
            <a:endParaRPr b="0" lang="en-US" sz="1500" spc="-1" strike="noStrike">
              <a:solidFill>
                <a:srgbClr val="ffffff"/>
              </a:solidFill>
              <a:latin typeface="Arial"/>
            </a:endParaRPr>
          </a:p>
        </p:txBody>
      </p:sp>
      <p:sp>
        <p:nvSpPr>
          <p:cNvPr id="62" name="Text 11"/>
          <p:cNvSpPr/>
          <p:nvPr/>
        </p:nvSpPr>
        <p:spPr>
          <a:xfrm>
            <a:off x="731520" y="3611880"/>
            <a:ext cx="228564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30000"/>
              </a:lnSpc>
              <a:tabLst>
                <a:tab algn="l" pos="0"/>
              </a:tabLst>
            </a:pPr>
            <a:r>
              <a:rPr b="0" lang="en-US" sz="1000" spc="-1" strike="noStrike">
                <a:solidFill>
                  <a:srgbClr val="a8b8cc"/>
                </a:solidFill>
                <a:latin typeface="Calibri"/>
                <a:ea typeface="Calibri"/>
              </a:rPr>
              <a:t>Live 1v1 matches with</a:t>
            </a:r>
            <a:endParaRPr b="0" lang="en-US" sz="1000" spc="-1" strike="noStrike">
              <a:solidFill>
                <a:srgbClr val="ffffff"/>
              </a:solidFill>
              <a:latin typeface="Arial"/>
            </a:endParaRPr>
          </a:p>
          <a:p>
            <a:pPr algn="ctr" defTabSz="914400">
              <a:lnSpc>
                <a:spcPct val="130000"/>
              </a:lnSpc>
              <a:tabLst>
                <a:tab algn="l" pos="0"/>
              </a:tabLst>
            </a:pPr>
            <a:r>
              <a:rPr b="0" lang="en-US" sz="1000" spc="-1" strike="noStrike">
                <a:solidFill>
                  <a:srgbClr val="a8b8cc"/>
                </a:solidFill>
                <a:latin typeface="Calibri"/>
                <a:ea typeface="Calibri"/>
              </a:rPr>
              <a:t>synchronized timers</a:t>
            </a:r>
            <a:endParaRPr b="0" lang="en-US" sz="1000" spc="-1" strike="noStrike">
              <a:solidFill>
                <a:srgbClr val="ffffff"/>
              </a:solidFill>
              <a:latin typeface="Arial"/>
            </a:endParaRPr>
          </a:p>
        </p:txBody>
      </p:sp>
      <p:sp>
        <p:nvSpPr>
          <p:cNvPr id="63" name="Shape 12"/>
          <p:cNvSpPr/>
          <p:nvPr/>
        </p:nvSpPr>
        <p:spPr>
          <a:xfrm>
            <a:off x="3474720" y="2743200"/>
            <a:ext cx="2651400" cy="1462680"/>
          </a:xfrm>
          <a:prstGeom prst="roundRect">
            <a:avLst>
              <a:gd name="adj" fmla="val 6250"/>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Text 13"/>
          <p:cNvSpPr/>
          <p:nvPr/>
        </p:nvSpPr>
        <p:spPr>
          <a:xfrm>
            <a:off x="3474720" y="2880360"/>
            <a:ext cx="265140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pc="-1" strike="noStrike">
                <a:solidFill>
                  <a:srgbClr val="000000"/>
                </a:solidFill>
                <a:latin typeface="Calibri"/>
              </a:rPr>
              <a:t>🎯</a:t>
            </a:r>
            <a:endParaRPr b="0" lang="en-US" sz="2800" spc="-1" strike="noStrike">
              <a:solidFill>
                <a:srgbClr val="ffffff"/>
              </a:solidFill>
              <a:latin typeface="Arial"/>
            </a:endParaRPr>
          </a:p>
        </p:txBody>
      </p:sp>
      <p:sp>
        <p:nvSpPr>
          <p:cNvPr id="65" name="Text 14"/>
          <p:cNvSpPr/>
          <p:nvPr/>
        </p:nvSpPr>
        <p:spPr>
          <a:xfrm>
            <a:off x="3474720" y="3291840"/>
            <a:ext cx="265140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Trebuchet MS"/>
                <a:ea typeface="Trebuchet MS"/>
              </a:rPr>
              <a:t>Fair Matching</a:t>
            </a:r>
            <a:endParaRPr b="0" lang="en-US" sz="1500" spc="-1" strike="noStrike">
              <a:solidFill>
                <a:srgbClr val="ffffff"/>
              </a:solidFill>
              <a:latin typeface="Arial"/>
            </a:endParaRPr>
          </a:p>
        </p:txBody>
      </p:sp>
      <p:sp>
        <p:nvSpPr>
          <p:cNvPr id="66" name="Text 15"/>
          <p:cNvSpPr/>
          <p:nvPr/>
        </p:nvSpPr>
        <p:spPr>
          <a:xfrm>
            <a:off x="3657600" y="3611880"/>
            <a:ext cx="228564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30000"/>
              </a:lnSpc>
              <a:tabLst>
                <a:tab algn="l" pos="0"/>
              </a:tabLst>
            </a:pPr>
            <a:r>
              <a:rPr b="0" lang="en-US" sz="1000" spc="-1" strike="noStrike">
                <a:solidFill>
                  <a:srgbClr val="a8b8cc"/>
                </a:solidFill>
                <a:latin typeface="Calibri"/>
                <a:ea typeface="Calibri"/>
              </a:rPr>
              <a:t>Elo-rated matchmaking</a:t>
            </a:r>
            <a:endParaRPr b="0" lang="en-US" sz="1000" spc="-1" strike="noStrike">
              <a:solidFill>
                <a:srgbClr val="ffffff"/>
              </a:solidFill>
              <a:latin typeface="Arial"/>
            </a:endParaRPr>
          </a:p>
          <a:p>
            <a:pPr algn="ctr" defTabSz="914400">
              <a:lnSpc>
                <a:spcPct val="130000"/>
              </a:lnSpc>
              <a:tabLst>
                <a:tab algn="l" pos="0"/>
              </a:tabLst>
            </a:pPr>
            <a:r>
              <a:rPr b="0" lang="en-US" sz="1000" spc="-1" strike="noStrike">
                <a:solidFill>
                  <a:srgbClr val="a8b8cc"/>
                </a:solidFill>
                <a:latin typeface="Calibri"/>
                <a:ea typeface="Calibri"/>
              </a:rPr>
              <a:t>ensures balanced play</a:t>
            </a:r>
            <a:endParaRPr b="0" lang="en-US" sz="1000" spc="-1" strike="noStrike">
              <a:solidFill>
                <a:srgbClr val="ffffff"/>
              </a:solidFill>
              <a:latin typeface="Arial"/>
            </a:endParaRPr>
          </a:p>
        </p:txBody>
      </p:sp>
      <p:sp>
        <p:nvSpPr>
          <p:cNvPr id="67" name="Shape 16"/>
          <p:cNvSpPr/>
          <p:nvPr/>
        </p:nvSpPr>
        <p:spPr>
          <a:xfrm>
            <a:off x="6400800" y="2743200"/>
            <a:ext cx="2651400" cy="1462680"/>
          </a:xfrm>
          <a:prstGeom prst="roundRect">
            <a:avLst>
              <a:gd name="adj" fmla="val 6250"/>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 name="Text 17"/>
          <p:cNvSpPr/>
          <p:nvPr/>
        </p:nvSpPr>
        <p:spPr>
          <a:xfrm>
            <a:off x="6400800" y="2880360"/>
            <a:ext cx="265140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pc="-1" strike="noStrike">
                <a:solidFill>
                  <a:srgbClr val="000000"/>
                </a:solidFill>
                <a:latin typeface="Calibri"/>
              </a:rPr>
              <a:t>🔒</a:t>
            </a:r>
            <a:endParaRPr b="0" lang="en-US" sz="2800" spc="-1" strike="noStrike">
              <a:solidFill>
                <a:srgbClr val="ffffff"/>
              </a:solidFill>
              <a:latin typeface="Arial"/>
            </a:endParaRPr>
          </a:p>
        </p:txBody>
      </p:sp>
      <p:sp>
        <p:nvSpPr>
          <p:cNvPr id="69" name="Text 18"/>
          <p:cNvSpPr/>
          <p:nvPr/>
        </p:nvSpPr>
        <p:spPr>
          <a:xfrm>
            <a:off x="6400800" y="3291840"/>
            <a:ext cx="265140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Trebuchet MS"/>
                <a:ea typeface="Trebuchet MS"/>
              </a:rPr>
              <a:t>Secure Exec</a:t>
            </a:r>
            <a:endParaRPr b="0" lang="en-US" sz="1500" spc="-1" strike="noStrike">
              <a:solidFill>
                <a:srgbClr val="ffffff"/>
              </a:solidFill>
              <a:latin typeface="Arial"/>
            </a:endParaRPr>
          </a:p>
        </p:txBody>
      </p:sp>
      <p:sp>
        <p:nvSpPr>
          <p:cNvPr id="70" name="Text 19"/>
          <p:cNvSpPr/>
          <p:nvPr/>
        </p:nvSpPr>
        <p:spPr>
          <a:xfrm>
            <a:off x="6583680" y="3611880"/>
            <a:ext cx="228564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30000"/>
              </a:lnSpc>
              <a:tabLst>
                <a:tab algn="l" pos="0"/>
              </a:tabLst>
            </a:pPr>
            <a:r>
              <a:rPr b="0" lang="en-US" sz="1000" spc="-1" strike="noStrike">
                <a:solidFill>
                  <a:srgbClr val="a8b8cc"/>
                </a:solidFill>
                <a:latin typeface="Calibri"/>
                <a:ea typeface="Calibri"/>
              </a:rPr>
              <a:t>Sandboxed code evaluation</a:t>
            </a:r>
            <a:endParaRPr b="0" lang="en-US" sz="1000" spc="-1" strike="noStrike">
              <a:solidFill>
                <a:srgbClr val="ffffff"/>
              </a:solidFill>
              <a:latin typeface="Arial"/>
            </a:endParaRPr>
          </a:p>
          <a:p>
            <a:pPr algn="ctr" defTabSz="914400">
              <a:lnSpc>
                <a:spcPct val="130000"/>
              </a:lnSpc>
              <a:tabLst>
                <a:tab algn="l" pos="0"/>
              </a:tabLst>
            </a:pPr>
            <a:r>
              <a:rPr b="0" lang="en-US" sz="1000" spc="-1" strike="noStrike">
                <a:solidFill>
                  <a:srgbClr val="a8b8cc"/>
                </a:solidFill>
                <a:latin typeface="Calibri"/>
                <a:ea typeface="Calibri"/>
              </a:rPr>
              <a:t>via Judge0 API</a:t>
            </a:r>
            <a:endParaRPr b="0" lang="en-US" sz="1000" spc="-1" strike="noStrike">
              <a:solidFill>
                <a:srgbClr val="ffffff"/>
              </a:solidFill>
              <a:latin typeface="Arial"/>
            </a:endParaRPr>
          </a:p>
        </p:txBody>
      </p:sp>
      <p:sp>
        <p:nvSpPr>
          <p:cNvPr id="71" name="Shape 20"/>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21"/>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73" name="Text 22"/>
          <p:cNvSpPr/>
          <p:nvPr/>
        </p:nvSpPr>
        <p:spPr>
          <a:xfrm>
            <a:off x="7772400" y="480060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2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74" name="Shape 0"/>
          <p:cNvSpPr/>
          <p:nvPr/>
        </p:nvSpPr>
        <p:spPr>
          <a:xfrm>
            <a:off x="0" y="0"/>
            <a:ext cx="72720" cy="5143320"/>
          </a:xfrm>
          <a:prstGeom prst="rect">
            <a:avLst/>
          </a:prstGeom>
          <a:solidFill>
            <a:srgbClr val="2ec4b6"/>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Project Aims</a:t>
            </a:r>
            <a:endParaRPr b="0" lang="en-US" sz="3600" spc="-1" strike="noStrike">
              <a:solidFill>
                <a:srgbClr val="ffffff"/>
              </a:solidFill>
              <a:latin typeface="Arial"/>
            </a:endParaRPr>
          </a:p>
        </p:txBody>
      </p:sp>
      <p:sp>
        <p:nvSpPr>
          <p:cNvPr id="76" name="Shape 2"/>
          <p:cNvSpPr/>
          <p:nvPr/>
        </p:nvSpPr>
        <p:spPr>
          <a:xfrm>
            <a:off x="548640" y="1051560"/>
            <a:ext cx="456840" cy="4568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 name="Text 3"/>
          <p:cNvSpPr/>
          <p:nvPr/>
        </p:nvSpPr>
        <p:spPr>
          <a:xfrm>
            <a:off x="548640" y="105156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ffffff"/>
                </a:solidFill>
                <a:latin typeface="Trebuchet MS"/>
                <a:ea typeface="Trebuchet MS"/>
              </a:rPr>
              <a:t>01</a:t>
            </a:r>
            <a:endParaRPr b="0" lang="en-US" sz="1600" spc="-1" strike="noStrike">
              <a:solidFill>
                <a:srgbClr val="ffffff"/>
              </a:solidFill>
              <a:latin typeface="Arial"/>
            </a:endParaRPr>
          </a:p>
        </p:txBody>
      </p:sp>
      <p:sp>
        <p:nvSpPr>
          <p:cNvPr id="78" name="Text 4"/>
          <p:cNvSpPr/>
          <p:nvPr/>
        </p:nvSpPr>
        <p:spPr>
          <a:xfrm>
            <a:off x="1188720" y="1051560"/>
            <a:ext cx="32000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Matchmaking Engine</a:t>
            </a:r>
            <a:endParaRPr b="0" lang="en-US" sz="1500" spc="-1" strike="noStrike">
              <a:solidFill>
                <a:srgbClr val="ffffff"/>
              </a:solidFill>
              <a:latin typeface="Arial"/>
            </a:endParaRPr>
          </a:p>
        </p:txBody>
      </p:sp>
      <p:sp>
        <p:nvSpPr>
          <p:cNvPr id="79" name="Text 5"/>
          <p:cNvSpPr/>
          <p:nvPr/>
        </p:nvSpPr>
        <p:spPr>
          <a:xfrm>
            <a:off x="1188720" y="1307520"/>
            <a:ext cx="74977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100" spc="-1" strike="noStrike">
                <a:solidFill>
                  <a:srgbClr val="a8b8cc"/>
                </a:solidFill>
                <a:latin typeface="Calibri"/>
                <a:ea typeface="Calibri"/>
              </a:rPr>
              <a:t>Build an Elo-based matchmaking system that dynamically pairs contestants of similar skill within expanding tolerance windows.</a:t>
            </a:r>
            <a:endParaRPr b="0" lang="en-US" sz="1100" spc="-1" strike="noStrike">
              <a:solidFill>
                <a:srgbClr val="ffffff"/>
              </a:solidFill>
              <a:latin typeface="Arial"/>
            </a:endParaRPr>
          </a:p>
        </p:txBody>
      </p:sp>
      <p:sp>
        <p:nvSpPr>
          <p:cNvPr id="80" name="Shape 6"/>
          <p:cNvSpPr/>
          <p:nvPr/>
        </p:nvSpPr>
        <p:spPr>
          <a:xfrm>
            <a:off x="548640" y="1764720"/>
            <a:ext cx="456840" cy="4568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Text 7"/>
          <p:cNvSpPr/>
          <p:nvPr/>
        </p:nvSpPr>
        <p:spPr>
          <a:xfrm>
            <a:off x="548640" y="176472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ffffff"/>
                </a:solidFill>
                <a:latin typeface="Trebuchet MS"/>
                <a:ea typeface="Trebuchet MS"/>
              </a:rPr>
              <a:t>02</a:t>
            </a:r>
            <a:endParaRPr b="0" lang="en-US" sz="1600" spc="-1" strike="noStrike">
              <a:solidFill>
                <a:srgbClr val="ffffff"/>
              </a:solidFill>
              <a:latin typeface="Arial"/>
            </a:endParaRPr>
          </a:p>
        </p:txBody>
      </p:sp>
      <p:sp>
        <p:nvSpPr>
          <p:cNvPr id="82" name="Text 8"/>
          <p:cNvSpPr/>
          <p:nvPr/>
        </p:nvSpPr>
        <p:spPr>
          <a:xfrm>
            <a:off x="1188720" y="1764720"/>
            <a:ext cx="32000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Real-time Match Sessions</a:t>
            </a:r>
            <a:endParaRPr b="0" lang="en-US" sz="1500" spc="-1" strike="noStrike">
              <a:solidFill>
                <a:srgbClr val="ffffff"/>
              </a:solidFill>
              <a:latin typeface="Arial"/>
            </a:endParaRPr>
          </a:p>
        </p:txBody>
      </p:sp>
      <p:sp>
        <p:nvSpPr>
          <p:cNvPr id="83" name="Text 9"/>
          <p:cNvSpPr/>
          <p:nvPr/>
        </p:nvSpPr>
        <p:spPr>
          <a:xfrm>
            <a:off x="1188720" y="2020680"/>
            <a:ext cx="74977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100" spc="-1" strike="noStrike">
                <a:solidFill>
                  <a:srgbClr val="a8b8cc"/>
                </a:solidFill>
                <a:latin typeface="Calibri"/>
                <a:ea typeface="Calibri"/>
              </a:rPr>
              <a:t>Deliver synchronized match experiences over WebSockets with live timers, instant verdict delivery, and opponent status tracking.</a:t>
            </a:r>
            <a:endParaRPr b="0" lang="en-US" sz="1100" spc="-1" strike="noStrike">
              <a:solidFill>
                <a:srgbClr val="ffffff"/>
              </a:solidFill>
              <a:latin typeface="Arial"/>
            </a:endParaRPr>
          </a:p>
        </p:txBody>
      </p:sp>
      <p:sp>
        <p:nvSpPr>
          <p:cNvPr id="84" name="Shape 10"/>
          <p:cNvSpPr/>
          <p:nvPr/>
        </p:nvSpPr>
        <p:spPr>
          <a:xfrm>
            <a:off x="548640" y="2477880"/>
            <a:ext cx="456840" cy="4568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 name="Text 11"/>
          <p:cNvSpPr/>
          <p:nvPr/>
        </p:nvSpPr>
        <p:spPr>
          <a:xfrm>
            <a:off x="548640" y="247788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ffffff"/>
                </a:solidFill>
                <a:latin typeface="Trebuchet MS"/>
                <a:ea typeface="Trebuchet MS"/>
              </a:rPr>
              <a:t>03</a:t>
            </a:r>
            <a:endParaRPr b="0" lang="en-US" sz="1600" spc="-1" strike="noStrike">
              <a:solidFill>
                <a:srgbClr val="ffffff"/>
              </a:solidFill>
              <a:latin typeface="Arial"/>
            </a:endParaRPr>
          </a:p>
        </p:txBody>
      </p:sp>
      <p:sp>
        <p:nvSpPr>
          <p:cNvPr id="86" name="Text 12"/>
          <p:cNvSpPr/>
          <p:nvPr/>
        </p:nvSpPr>
        <p:spPr>
          <a:xfrm>
            <a:off x="1188720" y="2477880"/>
            <a:ext cx="32000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Sandboxed Code Evaluation</a:t>
            </a:r>
            <a:endParaRPr b="0" lang="en-US" sz="1500" spc="-1" strike="noStrike">
              <a:solidFill>
                <a:srgbClr val="ffffff"/>
              </a:solidFill>
              <a:latin typeface="Arial"/>
            </a:endParaRPr>
          </a:p>
        </p:txBody>
      </p:sp>
      <p:sp>
        <p:nvSpPr>
          <p:cNvPr id="87" name="Text 13"/>
          <p:cNvSpPr/>
          <p:nvPr/>
        </p:nvSpPr>
        <p:spPr>
          <a:xfrm>
            <a:off x="1188720" y="2734200"/>
            <a:ext cx="74977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100" spc="-1" strike="noStrike">
                <a:solidFill>
                  <a:srgbClr val="a8b8cc"/>
                </a:solidFill>
                <a:latin typeface="Calibri"/>
                <a:ea typeface="Calibri"/>
              </a:rPr>
              <a:t>Integrate Judge0 API for secure, isolated compilation and execution of user-submitted code in multiple languages.</a:t>
            </a:r>
            <a:endParaRPr b="0" lang="en-US" sz="1100" spc="-1" strike="noStrike">
              <a:solidFill>
                <a:srgbClr val="ffffff"/>
              </a:solidFill>
              <a:latin typeface="Arial"/>
            </a:endParaRPr>
          </a:p>
        </p:txBody>
      </p:sp>
      <p:sp>
        <p:nvSpPr>
          <p:cNvPr id="88" name="Shape 14"/>
          <p:cNvSpPr/>
          <p:nvPr/>
        </p:nvSpPr>
        <p:spPr>
          <a:xfrm>
            <a:off x="548640" y="3191400"/>
            <a:ext cx="456840" cy="4568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 name="Text 15"/>
          <p:cNvSpPr/>
          <p:nvPr/>
        </p:nvSpPr>
        <p:spPr>
          <a:xfrm>
            <a:off x="548640" y="319140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ffffff"/>
                </a:solidFill>
                <a:latin typeface="Trebuchet MS"/>
                <a:ea typeface="Trebuchet MS"/>
              </a:rPr>
              <a:t>04</a:t>
            </a:r>
            <a:endParaRPr b="0" lang="en-US" sz="1600" spc="-1" strike="noStrike">
              <a:solidFill>
                <a:srgbClr val="ffffff"/>
              </a:solidFill>
              <a:latin typeface="Arial"/>
            </a:endParaRPr>
          </a:p>
        </p:txBody>
      </p:sp>
      <p:sp>
        <p:nvSpPr>
          <p:cNvPr id="90" name="Text 16"/>
          <p:cNvSpPr/>
          <p:nvPr/>
        </p:nvSpPr>
        <p:spPr>
          <a:xfrm>
            <a:off x="1188720" y="3191400"/>
            <a:ext cx="32000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Community Problem Pool</a:t>
            </a:r>
            <a:endParaRPr b="0" lang="en-US" sz="1500" spc="-1" strike="noStrike">
              <a:solidFill>
                <a:srgbClr val="ffffff"/>
              </a:solidFill>
              <a:latin typeface="Arial"/>
            </a:endParaRPr>
          </a:p>
        </p:txBody>
      </p:sp>
      <p:sp>
        <p:nvSpPr>
          <p:cNvPr id="91" name="Text 17"/>
          <p:cNvSpPr/>
          <p:nvPr/>
        </p:nvSpPr>
        <p:spPr>
          <a:xfrm>
            <a:off x="1188720" y="3447360"/>
            <a:ext cx="74977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100" spc="-1" strike="noStrike">
                <a:solidFill>
                  <a:srgbClr val="a8b8cc"/>
                </a:solidFill>
                <a:latin typeface="Calibri"/>
                <a:ea typeface="Calibri"/>
              </a:rPr>
              <a:t>Enable users to propose, review, and approve programming tasks through a role-based admin workflow.</a:t>
            </a:r>
            <a:endParaRPr b="0" lang="en-US" sz="1100" spc="-1" strike="noStrike">
              <a:solidFill>
                <a:srgbClr val="ffffff"/>
              </a:solidFill>
              <a:latin typeface="Arial"/>
            </a:endParaRPr>
          </a:p>
        </p:txBody>
      </p:sp>
      <p:sp>
        <p:nvSpPr>
          <p:cNvPr id="92" name="Shape 18"/>
          <p:cNvSpPr/>
          <p:nvPr/>
        </p:nvSpPr>
        <p:spPr>
          <a:xfrm>
            <a:off x="548640" y="3904560"/>
            <a:ext cx="456840" cy="4568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 name="Text 19"/>
          <p:cNvSpPr/>
          <p:nvPr/>
        </p:nvSpPr>
        <p:spPr>
          <a:xfrm>
            <a:off x="548640" y="390456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ffffff"/>
                </a:solidFill>
                <a:latin typeface="Trebuchet MS"/>
                <a:ea typeface="Trebuchet MS"/>
              </a:rPr>
              <a:t>05</a:t>
            </a:r>
            <a:endParaRPr b="0" lang="en-US" sz="1600" spc="-1" strike="noStrike">
              <a:solidFill>
                <a:srgbClr val="ffffff"/>
              </a:solidFill>
              <a:latin typeface="Arial"/>
            </a:endParaRPr>
          </a:p>
        </p:txBody>
      </p:sp>
      <p:sp>
        <p:nvSpPr>
          <p:cNvPr id="94" name="Text 20"/>
          <p:cNvSpPr/>
          <p:nvPr/>
        </p:nvSpPr>
        <p:spPr>
          <a:xfrm>
            <a:off x="1188720" y="3904560"/>
            <a:ext cx="32000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Rating &amp; Leaderboard</a:t>
            </a:r>
            <a:endParaRPr b="0" lang="en-US" sz="1500" spc="-1" strike="noStrike">
              <a:solidFill>
                <a:srgbClr val="ffffff"/>
              </a:solidFill>
              <a:latin typeface="Arial"/>
            </a:endParaRPr>
          </a:p>
        </p:txBody>
      </p:sp>
      <p:sp>
        <p:nvSpPr>
          <p:cNvPr id="95" name="Text 21"/>
          <p:cNvSpPr/>
          <p:nvPr/>
        </p:nvSpPr>
        <p:spPr>
          <a:xfrm>
            <a:off x="1188720" y="4160520"/>
            <a:ext cx="74977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100" spc="-1" strike="noStrike">
                <a:solidFill>
                  <a:srgbClr val="a8b8cc"/>
                </a:solidFill>
                <a:latin typeface="Calibri"/>
                <a:ea typeface="Calibri"/>
              </a:rPr>
              <a:t>Implement Elo rating recalculation with floor clamping and a public global leaderboard ranking players by skill.</a:t>
            </a:r>
            <a:endParaRPr b="0" lang="en-US" sz="1100" spc="-1" strike="noStrike">
              <a:solidFill>
                <a:srgbClr val="ffffff"/>
              </a:solidFill>
              <a:latin typeface="Arial"/>
            </a:endParaRPr>
          </a:p>
        </p:txBody>
      </p:sp>
      <p:sp>
        <p:nvSpPr>
          <p:cNvPr id="96" name="Shape 22"/>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Text 23"/>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98" name="Text 24"/>
          <p:cNvSpPr/>
          <p:nvPr/>
        </p:nvSpPr>
        <p:spPr>
          <a:xfrm>
            <a:off x="7772400" y="480060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3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99" name="Shape 0"/>
          <p:cNvSpPr/>
          <p:nvPr/>
        </p:nvSpPr>
        <p:spPr>
          <a:xfrm>
            <a:off x="0" y="0"/>
            <a:ext cx="72720" cy="5143320"/>
          </a:xfrm>
          <a:prstGeom prst="rect">
            <a:avLst/>
          </a:prstGeom>
          <a:solidFill>
            <a:srgbClr val="f0c75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Related Work</a:t>
            </a:r>
            <a:endParaRPr b="0" lang="en-US" sz="3600" spc="-1" strike="noStrike">
              <a:solidFill>
                <a:srgbClr val="ffffff"/>
              </a:solidFill>
              <a:latin typeface="Arial"/>
            </a:endParaRPr>
          </a:p>
        </p:txBody>
      </p:sp>
      <p:graphicFrame>
        <p:nvGraphicFramePr>
          <p:cNvPr id="101" name="Table 0"/>
          <p:cNvGraphicFramePr/>
          <p:nvPr/>
        </p:nvGraphicFramePr>
        <p:xfrm>
          <a:off x="548640" y="1097280"/>
          <a:ext cx="8229240" cy="1828800"/>
        </p:xfrm>
        <a:graphic>
          <a:graphicData uri="http://schemas.openxmlformats.org/drawingml/2006/table">
            <a:tbl>
              <a:tblPr/>
              <a:tblGrid>
                <a:gridCol w="2011680"/>
                <a:gridCol w="1554480"/>
                <a:gridCol w="1554480"/>
                <a:gridCol w="1554480"/>
                <a:gridCol w="1554480"/>
              </a:tblGrid>
              <a:tr h="365760">
                <a:tc>
                  <a:txBody>
                    <a:bodyPr anchor="ctr">
                      <a:noAutofit/>
                    </a:bodyPr>
                    <a:p>
                      <a:pPr algn="ctr" defTabSz="914400">
                        <a:lnSpc>
                          <a:spcPct val="100000"/>
                        </a:lnSpc>
                        <a:tabLst>
                          <a:tab algn="l" pos="0"/>
                        </a:tabLst>
                      </a:pPr>
                      <a:r>
                        <a:rPr b="1" lang="en-US" sz="1200" spc="-1" strike="noStrike">
                          <a:solidFill>
                            <a:srgbClr val="ffffff"/>
                          </a:solidFill>
                          <a:latin typeface="Trebuchet MS"/>
                          <a:ea typeface="Trebuchet MS"/>
                        </a:rPr>
                        <a:t>Platform</a:t>
                      </a:r>
                      <a:endParaRPr b="0" lang="en-US" sz="1200" spc="-1" strike="noStrike">
                        <a:solidFill>
                          <a:srgbClr val="000000"/>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c7293"/>
                    </a:solidFill>
                  </a:tcPr>
                </a:tc>
                <a:tc>
                  <a:txBody>
                    <a:bodyPr anchor="ctr">
                      <a:noAutofit/>
                    </a:bodyPr>
                    <a:p>
                      <a:pPr algn="ctr" defTabSz="914400">
                        <a:lnSpc>
                          <a:spcPct val="100000"/>
                        </a:lnSpc>
                        <a:tabLst>
                          <a:tab algn="l" pos="0"/>
                        </a:tabLst>
                      </a:pPr>
                      <a:r>
                        <a:rPr b="1" lang="en-US" sz="1200" spc="-1" strike="noStrike">
                          <a:solidFill>
                            <a:srgbClr val="ffffff"/>
                          </a:solidFill>
                          <a:latin typeface="Trebuchet MS"/>
                          <a:ea typeface="Trebuchet MS"/>
                        </a:rPr>
                        <a:t>Real-time 1v1</a:t>
                      </a:r>
                      <a:endParaRPr b="0" lang="en-US" sz="1200" spc="-1" strike="noStrike">
                        <a:solidFill>
                          <a:srgbClr val="000000"/>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c7293"/>
                    </a:solidFill>
                  </a:tcPr>
                </a:tc>
                <a:tc>
                  <a:txBody>
                    <a:bodyPr anchor="ctr">
                      <a:noAutofit/>
                    </a:bodyPr>
                    <a:p>
                      <a:pPr algn="ctr" defTabSz="914400">
                        <a:lnSpc>
                          <a:spcPct val="100000"/>
                        </a:lnSpc>
                        <a:tabLst>
                          <a:tab algn="l" pos="0"/>
                        </a:tabLst>
                      </a:pPr>
                      <a:r>
                        <a:rPr b="1" lang="en-US" sz="1200" spc="-1" strike="noStrike">
                          <a:solidFill>
                            <a:srgbClr val="ffffff"/>
                          </a:solidFill>
                          <a:latin typeface="Trebuchet MS"/>
                          <a:ea typeface="Trebuchet MS"/>
                        </a:rPr>
                        <a:t>Elo Rating</a:t>
                      </a:r>
                      <a:endParaRPr b="0" lang="en-US" sz="1200" spc="-1" strike="noStrike">
                        <a:solidFill>
                          <a:srgbClr val="000000"/>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c7293"/>
                    </a:solidFill>
                  </a:tcPr>
                </a:tc>
                <a:tc>
                  <a:txBody>
                    <a:bodyPr anchor="ctr">
                      <a:noAutofit/>
                    </a:bodyPr>
                    <a:p>
                      <a:pPr algn="ctr" defTabSz="914400">
                        <a:lnSpc>
                          <a:spcPct val="100000"/>
                        </a:lnSpc>
                        <a:tabLst>
                          <a:tab algn="l" pos="0"/>
                        </a:tabLst>
                      </a:pPr>
                      <a:r>
                        <a:rPr b="1" lang="en-US" sz="1200" spc="-1" strike="noStrike">
                          <a:solidFill>
                            <a:srgbClr val="ffffff"/>
                          </a:solidFill>
                          <a:latin typeface="Trebuchet MS"/>
                          <a:ea typeface="Trebuchet MS"/>
                        </a:rPr>
                        <a:t>Auto Matching</a:t>
                      </a:r>
                      <a:endParaRPr b="0" lang="en-US" sz="1200" spc="-1" strike="noStrike">
                        <a:solidFill>
                          <a:srgbClr val="000000"/>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c7293"/>
                    </a:solidFill>
                  </a:tcPr>
                </a:tc>
                <a:tc>
                  <a:txBody>
                    <a:bodyPr anchor="ctr">
                      <a:noAutofit/>
                    </a:bodyPr>
                    <a:p>
                      <a:pPr algn="ctr" defTabSz="914400">
                        <a:lnSpc>
                          <a:spcPct val="100000"/>
                        </a:lnSpc>
                        <a:tabLst>
                          <a:tab algn="l" pos="0"/>
                        </a:tabLst>
                      </a:pPr>
                      <a:r>
                        <a:rPr b="1" lang="en-US" sz="1200" spc="-1" strike="noStrike">
                          <a:solidFill>
                            <a:srgbClr val="ffffff"/>
                          </a:solidFill>
                          <a:latin typeface="Trebuchet MS"/>
                          <a:ea typeface="Trebuchet MS"/>
                        </a:rPr>
                        <a:t>User Problems</a:t>
                      </a:r>
                      <a:endParaRPr b="0" lang="en-US" sz="1200" spc="-1" strike="noStrike">
                        <a:solidFill>
                          <a:srgbClr val="000000"/>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c7293"/>
                    </a:solidFill>
                  </a:tcPr>
                </a:tc>
              </a:tr>
              <a:tr h="365760">
                <a:tc>
                  <a:txBody>
                    <a:bodyPr anchor="ctr">
                      <a:noAutofit/>
                    </a:bodyPr>
                    <a:p>
                      <a:pPr defTabSz="914400">
                        <a:lnSpc>
                          <a:spcPct val="100000"/>
                        </a:lnSpc>
                        <a:tabLst>
                          <a:tab algn="l" pos="0"/>
                        </a:tabLst>
                      </a:pPr>
                      <a:r>
                        <a:rPr b="1" lang="en-US" sz="1100" spc="-1" strike="noStrike">
                          <a:solidFill>
                            <a:srgbClr val="e8edf3"/>
                          </a:solidFill>
                          <a:latin typeface="Calibri"/>
                          <a:ea typeface="Calibri"/>
                        </a:rPr>
                        <a:t>LeetCode</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(Contest only)</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r>
              <a:tr h="365760">
                <a:tc>
                  <a:txBody>
                    <a:bodyPr anchor="ctr">
                      <a:noAutofit/>
                    </a:bodyPr>
                    <a:p>
                      <a:pPr defTabSz="914400">
                        <a:lnSpc>
                          <a:spcPct val="100000"/>
                        </a:lnSpc>
                        <a:tabLst>
                          <a:tab algn="l" pos="0"/>
                        </a:tabLst>
                      </a:pPr>
                      <a:r>
                        <a:rPr b="1" lang="en-US" sz="1100" spc="-1" strike="noStrike">
                          <a:solidFill>
                            <a:srgbClr val="e8edf3"/>
                          </a:solidFill>
                          <a:latin typeface="Calibri"/>
                          <a:ea typeface="Calibri"/>
                        </a:rPr>
                        <a:t>Codeforces</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(Polygon)</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r>
              <a:tr h="365760">
                <a:tc>
                  <a:txBody>
                    <a:bodyPr anchor="ctr">
                      <a:noAutofit/>
                    </a:bodyPr>
                    <a:p>
                      <a:pPr defTabSz="914400">
                        <a:lnSpc>
                          <a:spcPct val="100000"/>
                        </a:lnSpc>
                        <a:tabLst>
                          <a:tab algn="l" pos="0"/>
                        </a:tabLst>
                      </a:pPr>
                      <a:r>
                        <a:rPr b="1" lang="en-US" sz="1100" spc="-1" strike="noStrike">
                          <a:solidFill>
                            <a:srgbClr val="e8edf3"/>
                          </a:solidFill>
                          <a:latin typeface="Calibri"/>
                          <a:ea typeface="Calibri"/>
                        </a:rPr>
                        <a:t>HackerRank</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0" lang="en-US" sz="1100" spc="-1" strike="noStrike">
                          <a:solidFill>
                            <a:srgbClr val="e8edf3"/>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r>
              <a:tr h="365760">
                <a:tc>
                  <a:txBody>
                    <a:bodyPr anchor="ctr">
                      <a:noAutofit/>
                    </a:bodyPr>
                    <a:p>
                      <a:pPr defTabSz="914400">
                        <a:lnSpc>
                          <a:spcPct val="100000"/>
                        </a:lnSpc>
                        <a:tabLst>
                          <a:tab algn="l" pos="0"/>
                        </a:tabLst>
                      </a:pPr>
                      <a:r>
                        <a:rPr b="1" lang="en-US" sz="1100" spc="-1" strike="noStrike">
                          <a:solidFill>
                            <a:srgbClr val="2ec4b6"/>
                          </a:solidFill>
                          <a:latin typeface="Calibri"/>
                          <a:ea typeface="Calibri"/>
                        </a:rPr>
                        <a:t>CodeColosseum</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1" lang="en-US" sz="1100" spc="-1" strike="noStrike">
                          <a:solidFill>
                            <a:srgbClr val="2ec4b6"/>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1" lang="en-US" sz="1100" spc="-1" strike="noStrike">
                          <a:solidFill>
                            <a:srgbClr val="2ec4b6"/>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1" lang="en-US" sz="1100" spc="-1" strike="noStrike">
                          <a:solidFill>
                            <a:srgbClr val="2ec4b6"/>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c>
                  <a:txBody>
                    <a:bodyPr anchor="ctr">
                      <a:noAutofit/>
                    </a:bodyPr>
                    <a:p>
                      <a:pPr algn="ctr" defTabSz="914400">
                        <a:lnSpc>
                          <a:spcPct val="100000"/>
                        </a:lnSpc>
                        <a:tabLst>
                          <a:tab algn="l" pos="0"/>
                        </a:tabLst>
                      </a:pPr>
                      <a:r>
                        <a:rPr b="1" lang="en-US" sz="1100" spc="-1" strike="noStrike">
                          <a:solidFill>
                            <a:srgbClr val="2ec4b6"/>
                          </a:solidFill>
                          <a:latin typeface="Calibri"/>
                          <a:ea typeface="Calibri"/>
                        </a:rPr>
                        <a:t>✓</a:t>
                      </a:r>
                      <a:endParaRPr b="0" lang="en-US" sz="1100" spc="-1" strike="noStrike">
                        <a:solidFill>
                          <a:srgbClr val="ffffff"/>
                        </a:solidFill>
                        <a:latin typeface="Arial"/>
                      </a:endParaRPr>
                    </a:p>
                  </a:txBody>
                  <a:tcPr anchor="ctr" marL="91440" marR="91440">
                    <a:lnL w="6480">
                      <a:solidFill>
                        <a:srgbClr val="6b7d99"/>
                      </a:solidFill>
                      <a:prstDash val="solid"/>
                    </a:lnL>
                    <a:lnR w="6480">
                      <a:solidFill>
                        <a:srgbClr val="6b7d99"/>
                      </a:solidFill>
                      <a:prstDash val="solid"/>
                    </a:lnR>
                    <a:lnT w="6480">
                      <a:solidFill>
                        <a:srgbClr val="6b7d99"/>
                      </a:solidFill>
                      <a:prstDash val="solid"/>
                    </a:lnT>
                    <a:lnB w="6480">
                      <a:solidFill>
                        <a:srgbClr val="6b7d99"/>
                      </a:solidFill>
                      <a:prstDash val="solid"/>
                    </a:lnB>
                    <a:solidFill>
                      <a:srgbClr val="132e5b"/>
                    </a:solidFill>
                  </a:tcPr>
                </a:tc>
              </a:tr>
            </a:tbl>
          </a:graphicData>
        </a:graphic>
      </p:graphicFrame>
      <p:sp>
        <p:nvSpPr>
          <p:cNvPr id="102" name="Shape 2"/>
          <p:cNvSpPr/>
          <p:nvPr/>
        </p:nvSpPr>
        <p:spPr>
          <a:xfrm>
            <a:off x="548640" y="3383280"/>
            <a:ext cx="8229240" cy="1096920"/>
          </a:xfrm>
          <a:prstGeom prst="roundRect">
            <a:avLst>
              <a:gd name="adj" fmla="val 8333"/>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 name="Text 3"/>
          <p:cNvSpPr/>
          <p:nvPr/>
        </p:nvSpPr>
        <p:spPr>
          <a:xfrm>
            <a:off x="777240" y="3474720"/>
            <a:ext cx="77720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f0c75e"/>
                </a:solidFill>
                <a:latin typeface="Trebuchet MS"/>
                <a:ea typeface="Trebuchet MS"/>
              </a:rPr>
              <a:t>What makes CodeColosseum different?</a:t>
            </a:r>
            <a:endParaRPr b="0" lang="en-US" sz="1500" spc="-1" strike="noStrike">
              <a:solidFill>
                <a:srgbClr val="ffffff"/>
              </a:solidFill>
              <a:latin typeface="Arial"/>
            </a:endParaRPr>
          </a:p>
        </p:txBody>
      </p:sp>
      <p:sp>
        <p:nvSpPr>
          <p:cNvPr id="104" name="Text 4"/>
          <p:cNvSpPr/>
          <p:nvPr/>
        </p:nvSpPr>
        <p:spPr>
          <a:xfrm>
            <a:off x="777240" y="3794760"/>
            <a:ext cx="77720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100" spc="-1" strike="noStrike">
                <a:solidFill>
                  <a:srgbClr val="e8edf3"/>
                </a:solidFill>
                <a:latin typeface="Calibri"/>
                <a:ea typeface="Calibri"/>
              </a:rPr>
              <a:t>Unlike existing platforms that focus on contests or solo practice, CodeColosseum provides instant, fair, skill-based 1v1 matchmaking — combining real-time WebSocket-driven matches, dynamic Elo-rated pairing, and a community-contributed problem pool with admin review into a single integrated experience.</a:t>
            </a:r>
            <a:endParaRPr b="0" lang="en-US" sz="1100" spc="-1" strike="noStrike">
              <a:solidFill>
                <a:srgbClr val="ffffff"/>
              </a:solidFill>
              <a:latin typeface="Arial"/>
            </a:endParaRPr>
          </a:p>
        </p:txBody>
      </p:sp>
      <p:sp>
        <p:nvSpPr>
          <p:cNvPr id="105" name="Shape 5"/>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Text 6"/>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107" name="Text 7"/>
          <p:cNvSpPr/>
          <p:nvPr/>
        </p:nvSpPr>
        <p:spPr>
          <a:xfrm>
            <a:off x="7772400" y="480060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4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108"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Scope &amp; Constraints</a:t>
            </a:r>
            <a:endParaRPr b="0" lang="en-US" sz="3600" spc="-1" strike="noStrike">
              <a:solidFill>
                <a:srgbClr val="ffffff"/>
              </a:solidFill>
              <a:latin typeface="Arial"/>
            </a:endParaRPr>
          </a:p>
        </p:txBody>
      </p:sp>
      <p:sp>
        <p:nvSpPr>
          <p:cNvPr id="110" name="Shape 2"/>
          <p:cNvSpPr/>
          <p:nvPr/>
        </p:nvSpPr>
        <p:spPr>
          <a:xfrm>
            <a:off x="548640" y="1051560"/>
            <a:ext cx="4023000" cy="3200040"/>
          </a:xfrm>
          <a:prstGeom prst="roundRect">
            <a:avLst>
              <a:gd name="adj" fmla="val 2857"/>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Text 3"/>
          <p:cNvSpPr/>
          <p:nvPr/>
        </p:nvSpPr>
        <p:spPr>
          <a:xfrm>
            <a:off x="777240" y="1143000"/>
            <a:ext cx="356580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2ec4b6"/>
                </a:solidFill>
                <a:latin typeface="Trebuchet MS"/>
                <a:ea typeface="Trebuchet MS"/>
              </a:rPr>
              <a:t>In Scope</a:t>
            </a:r>
            <a:endParaRPr b="0" lang="en-US" sz="1700" spc="-1" strike="noStrike">
              <a:solidFill>
                <a:srgbClr val="ffffff"/>
              </a:solidFill>
              <a:latin typeface="Arial"/>
            </a:endParaRPr>
          </a:p>
        </p:txBody>
      </p:sp>
      <p:sp>
        <p:nvSpPr>
          <p:cNvPr id="112" name="Text 4"/>
          <p:cNvSpPr/>
          <p:nvPr/>
        </p:nvSpPr>
        <p:spPr>
          <a:xfrm>
            <a:off x="777240" y="1508760"/>
            <a:ext cx="3565800" cy="2559960"/>
          </a:xfrm>
          <a:prstGeom prst="rect">
            <a:avLst/>
          </a:prstGeom>
          <a:noFill/>
          <a:ln w="0">
            <a:noFill/>
          </a:ln>
        </p:spPr>
        <p:style>
          <a:lnRef idx="0"/>
          <a:fillRef idx="0"/>
          <a:effectRef idx="0"/>
          <a:fontRef idx="minor"/>
        </p:style>
        <p:txBody>
          <a:bodyPr lIns="90000" rIns="90000" tIns="45000" bIns="45000" anchor="ctr">
            <a:noAutofit/>
          </a:bodyPr>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User registration, login, JWT authentication</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Elo-rated matchmaking with tolerance expansion</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Real-time 1v1 match sessions over WebSockets</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Sandboxed code execution via Judge0 API</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Problem proposal &amp; admin approval workflow</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Global Elo leaderboard &amp; match history</a:t>
            </a:r>
            <a:endParaRPr b="0" lang="en-US" sz="1100" spc="-1" strike="noStrike">
              <a:solidFill>
                <a:srgbClr val="ffffff"/>
              </a:solidFill>
              <a:latin typeface="Arial"/>
            </a:endParaRPr>
          </a:p>
          <a:p>
            <a:r>
              <a:rPr b="0" lang="en-US" sz="1100" spc="-1" strike="noStrike">
                <a:solidFill>
                  <a:srgbClr val="e8edf3"/>
                </a:solidFill>
                <a:latin typeface="Calibri"/>
                <a:ea typeface="Calibri"/>
              </a:rPr>
              <a:t>✓  </a:t>
            </a:r>
            <a:r>
              <a:rPr b="0" lang="en-US" sz="1100" spc="-1" strike="noStrike">
                <a:solidFill>
                  <a:srgbClr val="e8edf3"/>
                </a:solidFill>
                <a:latin typeface="Calibri"/>
                <a:ea typeface="Calibri"/>
              </a:rPr>
              <a:t>Java and Python language support</a:t>
            </a:r>
            <a:endParaRPr b="0" lang="en-US" sz="1100" spc="-1" strike="noStrike">
              <a:solidFill>
                <a:srgbClr val="ffffff"/>
              </a:solidFill>
              <a:latin typeface="Arial"/>
            </a:endParaRPr>
          </a:p>
          <a:p>
            <a:pPr defTabSz="914400">
              <a:lnSpc>
                <a:spcPct val="150000"/>
              </a:lnSpc>
              <a:tabLst>
                <a:tab algn="l" pos="0"/>
              </a:tabLst>
            </a:pPr>
            <a:endParaRPr b="0" lang="en-US" sz="1100" spc="-1" strike="noStrike">
              <a:solidFill>
                <a:srgbClr val="ffffff"/>
              </a:solidFill>
              <a:latin typeface="Arial"/>
            </a:endParaRPr>
          </a:p>
        </p:txBody>
      </p:sp>
      <p:sp>
        <p:nvSpPr>
          <p:cNvPr id="113" name="Shape 5"/>
          <p:cNvSpPr/>
          <p:nvPr/>
        </p:nvSpPr>
        <p:spPr>
          <a:xfrm>
            <a:off x="4937760" y="1051560"/>
            <a:ext cx="4023000" cy="3200040"/>
          </a:xfrm>
          <a:prstGeom prst="roundRect">
            <a:avLst>
              <a:gd name="adj" fmla="val 2857"/>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Text 6"/>
          <p:cNvSpPr/>
          <p:nvPr/>
        </p:nvSpPr>
        <p:spPr>
          <a:xfrm>
            <a:off x="5166360" y="1143000"/>
            <a:ext cx="356580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f0c75e"/>
                </a:solidFill>
                <a:latin typeface="Trebuchet MS"/>
                <a:ea typeface="Trebuchet MS"/>
              </a:rPr>
              <a:t>Out of Scope</a:t>
            </a:r>
            <a:endParaRPr b="0" lang="en-US" sz="1700" spc="-1" strike="noStrike">
              <a:solidFill>
                <a:srgbClr val="ffffff"/>
              </a:solidFill>
              <a:latin typeface="Arial"/>
            </a:endParaRPr>
          </a:p>
        </p:txBody>
      </p:sp>
      <p:sp>
        <p:nvSpPr>
          <p:cNvPr id="115" name="Text 7"/>
          <p:cNvSpPr/>
          <p:nvPr/>
        </p:nvSpPr>
        <p:spPr>
          <a:xfrm>
            <a:off x="5166360" y="1508760"/>
            <a:ext cx="3565800" cy="2559960"/>
          </a:xfrm>
          <a:prstGeom prst="rect">
            <a:avLst/>
          </a:prstGeom>
          <a:noFill/>
          <a:ln w="0">
            <a:noFill/>
          </a:ln>
        </p:spPr>
        <p:style>
          <a:lnRef idx="0"/>
          <a:fillRef idx="0"/>
          <a:effectRef idx="0"/>
          <a:fontRef idx="minor"/>
        </p:style>
        <p:txBody>
          <a:bodyPr lIns="90000" rIns="90000" tIns="45000" bIns="45000" anchor="ctr">
            <a:noAutofit/>
          </a:bodyPr>
          <a:p>
            <a:r>
              <a:rPr b="0" lang="en-US" sz="1100" spc="-1" strike="noStrike">
                <a:solidFill>
                  <a:srgbClr val="a8b8cc"/>
                </a:solidFill>
                <a:latin typeface="Calibri"/>
                <a:ea typeface="Calibri"/>
              </a:rPr>
              <a:t>✕  </a:t>
            </a:r>
            <a:r>
              <a:rPr b="0" lang="en-US" sz="1100" spc="-1" strike="noStrike">
                <a:solidFill>
                  <a:srgbClr val="a8b8cc"/>
                </a:solidFill>
                <a:latin typeface="Calibri"/>
                <a:ea typeface="Calibri"/>
              </a:rPr>
              <a:t>Team/group contests</a:t>
            </a:r>
            <a:endParaRPr b="0" lang="en-US" sz="1100" spc="-1" strike="noStrike">
              <a:solidFill>
                <a:srgbClr val="ffffff"/>
              </a:solidFill>
              <a:latin typeface="Arial"/>
            </a:endParaRPr>
          </a:p>
          <a:p>
            <a:r>
              <a:rPr b="0" lang="en-US" sz="1100" spc="-1" strike="noStrike">
                <a:solidFill>
                  <a:srgbClr val="a8b8cc"/>
                </a:solidFill>
                <a:latin typeface="Calibri"/>
                <a:ea typeface="Calibri"/>
              </a:rPr>
              <a:t>✕  </a:t>
            </a:r>
            <a:r>
              <a:rPr b="0" lang="en-US" sz="1100" spc="-1" strike="noStrike">
                <a:solidFill>
                  <a:srgbClr val="a8b8cc"/>
                </a:solidFill>
                <a:latin typeface="Calibri"/>
                <a:ea typeface="Calibri"/>
              </a:rPr>
              <a:t>In-match chat or spectator mode</a:t>
            </a:r>
            <a:endParaRPr b="0" lang="en-US" sz="1100" spc="-1" strike="noStrike">
              <a:solidFill>
                <a:srgbClr val="ffffff"/>
              </a:solidFill>
              <a:latin typeface="Arial"/>
            </a:endParaRPr>
          </a:p>
          <a:p>
            <a:r>
              <a:rPr b="0" lang="en-US" sz="1100" spc="-1" strike="noStrike">
                <a:solidFill>
                  <a:srgbClr val="a8b8cc"/>
                </a:solidFill>
                <a:latin typeface="Calibri"/>
                <a:ea typeface="Calibri"/>
              </a:rPr>
              <a:t>✕  </a:t>
            </a:r>
            <a:r>
              <a:rPr b="0" lang="en-US" sz="1100" spc="-1" strike="noStrike">
                <a:solidFill>
                  <a:srgbClr val="a8b8cc"/>
                </a:solidFill>
                <a:latin typeface="Calibri"/>
                <a:ea typeface="Calibri"/>
              </a:rPr>
              <a:t>Plagiarism detection</a:t>
            </a:r>
            <a:endParaRPr b="0" lang="en-US" sz="1100" spc="-1" strike="noStrike">
              <a:solidFill>
                <a:srgbClr val="ffffff"/>
              </a:solidFill>
              <a:latin typeface="Arial"/>
            </a:endParaRPr>
          </a:p>
          <a:p>
            <a:r>
              <a:rPr b="0" lang="en-US" sz="1100" spc="-1" strike="noStrike">
                <a:solidFill>
                  <a:srgbClr val="a8b8cc"/>
                </a:solidFill>
                <a:latin typeface="Calibri"/>
                <a:ea typeface="Calibri"/>
              </a:rPr>
              <a:t>✕  </a:t>
            </a:r>
            <a:r>
              <a:rPr b="0" lang="en-US" sz="1100" spc="-1" strike="noStrike">
                <a:solidFill>
                  <a:srgbClr val="a8b8cc"/>
                </a:solidFill>
                <a:latin typeface="Calibri"/>
                <a:ea typeface="Calibri"/>
              </a:rPr>
              <a:t>Multi-node horizontal scaling</a:t>
            </a:r>
            <a:endParaRPr b="0" lang="en-US" sz="1100" spc="-1" strike="noStrike">
              <a:solidFill>
                <a:srgbClr val="ffffff"/>
              </a:solidFill>
              <a:latin typeface="Arial"/>
            </a:endParaRPr>
          </a:p>
          <a:p>
            <a:r>
              <a:rPr b="0" lang="en-US" sz="1100" spc="-1" strike="noStrike">
                <a:solidFill>
                  <a:srgbClr val="a8b8cc"/>
                </a:solidFill>
                <a:latin typeface="Calibri"/>
                <a:ea typeface="Calibri"/>
              </a:rPr>
              <a:t>✕  </a:t>
            </a:r>
            <a:r>
              <a:rPr b="0" lang="en-US" sz="1100" spc="-1" strike="noStrike">
                <a:solidFill>
                  <a:srgbClr val="a8b8cc"/>
                </a:solidFill>
                <a:latin typeface="Calibri"/>
                <a:ea typeface="Calibri"/>
              </a:rPr>
              <a:t>Mobile native application</a:t>
            </a:r>
            <a:endParaRPr b="0" lang="en-US" sz="1100" spc="-1" strike="noStrike">
              <a:solidFill>
                <a:srgbClr val="ffffff"/>
              </a:solidFill>
              <a:latin typeface="Arial"/>
            </a:endParaRPr>
          </a:p>
          <a:p>
            <a:pPr defTabSz="914400">
              <a:lnSpc>
                <a:spcPct val="150000"/>
              </a:lnSpc>
              <a:tabLst>
                <a:tab algn="l" pos="0"/>
              </a:tabLst>
            </a:pPr>
            <a:endParaRPr b="0" lang="en-US" sz="1100" spc="-1" strike="noStrike">
              <a:solidFill>
                <a:srgbClr val="ffffff"/>
              </a:solidFill>
              <a:latin typeface="Arial"/>
            </a:endParaRPr>
          </a:p>
        </p:txBody>
      </p:sp>
      <p:sp>
        <p:nvSpPr>
          <p:cNvPr id="116" name="Shape 8"/>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7" name="Text 9"/>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118" name="Text 10"/>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5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119" name="Shape 0"/>
          <p:cNvSpPr/>
          <p:nvPr/>
        </p:nvSpPr>
        <p:spPr>
          <a:xfrm>
            <a:off x="0" y="0"/>
            <a:ext cx="72720" cy="5143320"/>
          </a:xfrm>
          <a:prstGeom prst="rect">
            <a:avLst/>
          </a:prstGeom>
          <a:solidFill>
            <a:srgbClr val="2ec4b6"/>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Technical Architecture</a:t>
            </a:r>
            <a:endParaRPr b="0" lang="en-US" sz="3600" spc="-1" strike="noStrike">
              <a:solidFill>
                <a:srgbClr val="ffffff"/>
              </a:solidFill>
              <a:latin typeface="Arial"/>
            </a:endParaRPr>
          </a:p>
        </p:txBody>
      </p:sp>
      <p:sp>
        <p:nvSpPr>
          <p:cNvPr id="121" name="Shape 2"/>
          <p:cNvSpPr/>
          <p:nvPr/>
        </p:nvSpPr>
        <p:spPr>
          <a:xfrm>
            <a:off x="731520" y="1371600"/>
            <a:ext cx="2011320" cy="731160"/>
          </a:xfrm>
          <a:prstGeom prst="roundRect">
            <a:avLst>
              <a:gd name="adj" fmla="val 10000"/>
            </a:avLst>
          </a:prstGeom>
          <a:solidFill>
            <a:srgbClr val="1c7293"/>
          </a:solidFill>
          <a:ln w="12700">
            <a:solidFill>
              <a:srgbClr val="2ec4b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 name="Text 3"/>
          <p:cNvSpPr/>
          <p:nvPr/>
        </p:nvSpPr>
        <p:spPr>
          <a:xfrm>
            <a:off x="731520" y="1371600"/>
            <a:ext cx="201132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React 18 SPA</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(Vite)</a:t>
            </a:r>
            <a:endParaRPr b="0" lang="en-US" sz="1100" spc="-1" strike="noStrike">
              <a:solidFill>
                <a:srgbClr val="ffffff"/>
              </a:solidFill>
              <a:latin typeface="Arial"/>
            </a:endParaRPr>
          </a:p>
        </p:txBody>
      </p:sp>
      <p:sp>
        <p:nvSpPr>
          <p:cNvPr id="123" name="Shape 4"/>
          <p:cNvSpPr/>
          <p:nvPr/>
        </p:nvSpPr>
        <p:spPr>
          <a:xfrm>
            <a:off x="3840480" y="1097280"/>
            <a:ext cx="2011320" cy="639720"/>
          </a:xfrm>
          <a:prstGeom prst="roundRect">
            <a:avLst>
              <a:gd name="adj" fmla="val 11429"/>
            </a:avLst>
          </a:prstGeom>
          <a:solidFill>
            <a:srgbClr val="132e5b"/>
          </a:solidFill>
          <a:ln w="12700">
            <a:solidFill>
              <a:srgbClr val="1c729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Text 5"/>
          <p:cNvSpPr/>
          <p:nvPr/>
        </p:nvSpPr>
        <p:spPr>
          <a:xfrm>
            <a:off x="3840480" y="109728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REST API</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(Spring MVC)</a:t>
            </a:r>
            <a:endParaRPr b="0" lang="en-US" sz="1100" spc="-1" strike="noStrike">
              <a:solidFill>
                <a:srgbClr val="ffffff"/>
              </a:solidFill>
              <a:latin typeface="Arial"/>
            </a:endParaRPr>
          </a:p>
        </p:txBody>
      </p:sp>
      <p:sp>
        <p:nvSpPr>
          <p:cNvPr id="125" name="Shape 6"/>
          <p:cNvSpPr/>
          <p:nvPr/>
        </p:nvSpPr>
        <p:spPr>
          <a:xfrm>
            <a:off x="3840480" y="1920240"/>
            <a:ext cx="2011320" cy="639720"/>
          </a:xfrm>
          <a:prstGeom prst="roundRect">
            <a:avLst>
              <a:gd name="adj" fmla="val 11429"/>
            </a:avLst>
          </a:prstGeom>
          <a:solidFill>
            <a:srgbClr val="132e5b"/>
          </a:solidFill>
          <a:ln w="12700">
            <a:solidFill>
              <a:srgbClr val="1c729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Text 7"/>
          <p:cNvSpPr/>
          <p:nvPr/>
        </p:nvSpPr>
        <p:spPr>
          <a:xfrm>
            <a:off x="3840480" y="192024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WebSocket</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(STOMP)</a:t>
            </a:r>
            <a:endParaRPr b="0" lang="en-US" sz="1100" spc="-1" strike="noStrike">
              <a:solidFill>
                <a:srgbClr val="ffffff"/>
              </a:solidFill>
              <a:latin typeface="Arial"/>
            </a:endParaRPr>
          </a:p>
        </p:txBody>
      </p:sp>
      <p:sp>
        <p:nvSpPr>
          <p:cNvPr id="127" name="Shape 8"/>
          <p:cNvSpPr/>
          <p:nvPr/>
        </p:nvSpPr>
        <p:spPr>
          <a:xfrm>
            <a:off x="6583680" y="1097280"/>
            <a:ext cx="2011320" cy="639720"/>
          </a:xfrm>
          <a:prstGeom prst="roundRect">
            <a:avLst>
              <a:gd name="adj" fmla="val 11429"/>
            </a:avLst>
          </a:prstGeom>
          <a:solidFill>
            <a:srgbClr val="162f54"/>
          </a:solidFill>
          <a:ln w="1270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9"/>
          <p:cNvSpPr/>
          <p:nvPr/>
        </p:nvSpPr>
        <p:spPr>
          <a:xfrm>
            <a:off x="6583680" y="109728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Matchmaking</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Service</a:t>
            </a:r>
            <a:endParaRPr b="0" lang="en-US" sz="1100" spc="-1" strike="noStrike">
              <a:solidFill>
                <a:srgbClr val="ffffff"/>
              </a:solidFill>
              <a:latin typeface="Arial"/>
            </a:endParaRPr>
          </a:p>
        </p:txBody>
      </p:sp>
      <p:sp>
        <p:nvSpPr>
          <p:cNvPr id="129" name="Shape 10"/>
          <p:cNvSpPr/>
          <p:nvPr/>
        </p:nvSpPr>
        <p:spPr>
          <a:xfrm>
            <a:off x="6583680" y="1920240"/>
            <a:ext cx="2011320" cy="639720"/>
          </a:xfrm>
          <a:prstGeom prst="roundRect">
            <a:avLst>
              <a:gd name="adj" fmla="val 11429"/>
            </a:avLst>
          </a:prstGeom>
          <a:solidFill>
            <a:srgbClr val="162f54"/>
          </a:solidFill>
          <a:ln w="1270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Text 11"/>
          <p:cNvSpPr/>
          <p:nvPr/>
        </p:nvSpPr>
        <p:spPr>
          <a:xfrm>
            <a:off x="6583680" y="192024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Match</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Service</a:t>
            </a:r>
            <a:endParaRPr b="0" lang="en-US" sz="1100" spc="-1" strike="noStrike">
              <a:solidFill>
                <a:srgbClr val="ffffff"/>
              </a:solidFill>
              <a:latin typeface="Arial"/>
            </a:endParaRPr>
          </a:p>
        </p:txBody>
      </p:sp>
      <p:sp>
        <p:nvSpPr>
          <p:cNvPr id="131" name="Shape 12"/>
          <p:cNvSpPr/>
          <p:nvPr/>
        </p:nvSpPr>
        <p:spPr>
          <a:xfrm>
            <a:off x="3840480" y="3291840"/>
            <a:ext cx="2011320" cy="639720"/>
          </a:xfrm>
          <a:prstGeom prst="roundRect">
            <a:avLst>
              <a:gd name="adj" fmla="val 11429"/>
            </a:avLst>
          </a:prstGeom>
          <a:solidFill>
            <a:srgbClr val="162f54"/>
          </a:solidFill>
          <a:ln w="19050">
            <a:solidFill>
              <a:srgbClr val="4caf5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Text 13"/>
          <p:cNvSpPr/>
          <p:nvPr/>
        </p:nvSpPr>
        <p:spPr>
          <a:xfrm>
            <a:off x="3840480" y="329184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PostgreSQL</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Database</a:t>
            </a:r>
            <a:endParaRPr b="0" lang="en-US" sz="1100" spc="-1" strike="noStrike">
              <a:solidFill>
                <a:srgbClr val="ffffff"/>
              </a:solidFill>
              <a:latin typeface="Arial"/>
            </a:endParaRPr>
          </a:p>
        </p:txBody>
      </p:sp>
      <p:sp>
        <p:nvSpPr>
          <p:cNvPr id="133" name="Shape 14"/>
          <p:cNvSpPr/>
          <p:nvPr/>
        </p:nvSpPr>
        <p:spPr>
          <a:xfrm>
            <a:off x="6583680" y="3291840"/>
            <a:ext cx="2011320" cy="639720"/>
          </a:xfrm>
          <a:prstGeom prst="roundRect">
            <a:avLst>
              <a:gd name="adj" fmla="val 11429"/>
            </a:avLst>
          </a:prstGeom>
          <a:solidFill>
            <a:srgbClr val="162f54"/>
          </a:solidFill>
          <a:ln w="19050">
            <a:solidFill>
              <a:srgbClr val="f4433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Text 15"/>
          <p:cNvSpPr/>
          <p:nvPr/>
        </p:nvSpPr>
        <p:spPr>
          <a:xfrm>
            <a:off x="6583680" y="329184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Judge0 API</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(Sandboxed Exec)</a:t>
            </a:r>
            <a:endParaRPr b="0" lang="en-US" sz="1100" spc="-1" strike="noStrike">
              <a:solidFill>
                <a:srgbClr val="ffffff"/>
              </a:solidFill>
              <a:latin typeface="Arial"/>
            </a:endParaRPr>
          </a:p>
        </p:txBody>
      </p:sp>
      <p:sp>
        <p:nvSpPr>
          <p:cNvPr id="135" name="Shape 16"/>
          <p:cNvSpPr/>
          <p:nvPr/>
        </p:nvSpPr>
        <p:spPr>
          <a:xfrm>
            <a:off x="731520" y="3291840"/>
            <a:ext cx="2011320" cy="639720"/>
          </a:xfrm>
          <a:prstGeom prst="roundRect">
            <a:avLst>
              <a:gd name="adj" fmla="val 11429"/>
            </a:avLst>
          </a:prstGeom>
          <a:solidFill>
            <a:srgbClr val="162f54"/>
          </a:solidFill>
          <a:ln w="19050">
            <a:solidFill>
              <a:srgbClr val="2ec4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Text 17"/>
          <p:cNvSpPr/>
          <p:nvPr/>
        </p:nvSpPr>
        <p:spPr>
          <a:xfrm>
            <a:off x="731520" y="3291840"/>
            <a:ext cx="20113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0" lang="en-US" sz="1100" spc="-1" strike="noStrike">
                <a:solidFill>
                  <a:srgbClr val="ffffff"/>
                </a:solidFill>
                <a:latin typeface="Calibri"/>
                <a:ea typeface="Calibri"/>
              </a:rPr>
              <a:t>JWT Auth</a:t>
            </a:r>
            <a:endParaRPr b="0" lang="en-US" sz="1100" spc="-1" strike="noStrike">
              <a:solidFill>
                <a:srgbClr val="ffffff"/>
              </a:solidFill>
              <a:latin typeface="Arial"/>
            </a:endParaRPr>
          </a:p>
          <a:p>
            <a:pPr algn="ctr" defTabSz="914400">
              <a:lnSpc>
                <a:spcPct val="110000"/>
              </a:lnSpc>
              <a:tabLst>
                <a:tab algn="l" pos="0"/>
              </a:tabLst>
            </a:pPr>
            <a:r>
              <a:rPr b="0" lang="en-US" sz="1100" spc="-1" strike="noStrike">
                <a:solidFill>
                  <a:srgbClr val="ffffff"/>
                </a:solidFill>
                <a:latin typeface="Calibri"/>
                <a:ea typeface="Calibri"/>
              </a:rPr>
              <a:t>(Identity &amp; Sec)</a:t>
            </a:r>
            <a:endParaRPr b="0" lang="en-US" sz="1100" spc="-1" strike="noStrike">
              <a:solidFill>
                <a:srgbClr val="ffffff"/>
              </a:solidFill>
              <a:latin typeface="Arial"/>
            </a:endParaRPr>
          </a:p>
        </p:txBody>
      </p:sp>
      <p:sp>
        <p:nvSpPr>
          <p:cNvPr id="137" name="Text 18"/>
          <p:cNvSpPr/>
          <p:nvPr/>
        </p:nvSpPr>
        <p:spPr>
          <a:xfrm>
            <a:off x="731520" y="1051560"/>
            <a:ext cx="201132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2ec4b6"/>
                </a:solidFill>
                <a:latin typeface="Trebuchet MS"/>
                <a:ea typeface="Trebuchet MS"/>
              </a:rPr>
              <a:t>Client Tier</a:t>
            </a:r>
            <a:endParaRPr b="0" lang="en-US" sz="1000" spc="-1" strike="noStrike">
              <a:solidFill>
                <a:srgbClr val="ffffff"/>
              </a:solidFill>
              <a:latin typeface="Arial"/>
            </a:endParaRPr>
          </a:p>
        </p:txBody>
      </p:sp>
      <p:sp>
        <p:nvSpPr>
          <p:cNvPr id="138" name="Text 19"/>
          <p:cNvSpPr/>
          <p:nvPr/>
        </p:nvSpPr>
        <p:spPr>
          <a:xfrm>
            <a:off x="3840480" y="777240"/>
            <a:ext cx="475452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2ec4b6"/>
                </a:solidFill>
                <a:latin typeface="Trebuchet MS"/>
                <a:ea typeface="Trebuchet MS"/>
              </a:rPr>
              <a:t>Server Tier (Spring Boot)</a:t>
            </a:r>
            <a:endParaRPr b="0" lang="en-US" sz="1000" spc="-1" strike="noStrike">
              <a:solidFill>
                <a:srgbClr val="ffffff"/>
              </a:solidFill>
              <a:latin typeface="Arial"/>
            </a:endParaRPr>
          </a:p>
        </p:txBody>
      </p:sp>
      <p:sp>
        <p:nvSpPr>
          <p:cNvPr id="139" name="Text 20"/>
          <p:cNvSpPr/>
          <p:nvPr/>
        </p:nvSpPr>
        <p:spPr>
          <a:xfrm>
            <a:off x="731520" y="2971800"/>
            <a:ext cx="201132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2ec4b6"/>
                </a:solidFill>
                <a:latin typeface="Trebuchet MS"/>
                <a:ea typeface="Trebuchet MS"/>
              </a:rPr>
              <a:t>Security / Identity</a:t>
            </a:r>
            <a:endParaRPr b="0" lang="en-US" sz="1000" spc="-1" strike="noStrike">
              <a:solidFill>
                <a:srgbClr val="ffffff"/>
              </a:solidFill>
              <a:latin typeface="Arial"/>
            </a:endParaRPr>
          </a:p>
        </p:txBody>
      </p:sp>
      <p:sp>
        <p:nvSpPr>
          <p:cNvPr id="140" name="Text 21"/>
          <p:cNvSpPr/>
          <p:nvPr/>
        </p:nvSpPr>
        <p:spPr>
          <a:xfrm>
            <a:off x="3840480" y="2971800"/>
            <a:ext cx="475452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2ec4b6"/>
                </a:solidFill>
                <a:latin typeface="Trebuchet MS"/>
                <a:ea typeface="Trebuchet MS"/>
              </a:rPr>
              <a:t>Data &amp; External Services</a:t>
            </a:r>
            <a:endParaRPr b="0" lang="en-US" sz="1000" spc="-1" strike="noStrike">
              <a:solidFill>
                <a:srgbClr val="ffffff"/>
              </a:solidFill>
              <a:latin typeface="Arial"/>
            </a:endParaRPr>
          </a:p>
        </p:txBody>
      </p:sp>
      <p:sp>
        <p:nvSpPr>
          <p:cNvPr id="141" name="Shape 22"/>
          <p:cNvSpPr/>
          <p:nvPr/>
        </p:nvSpPr>
        <p:spPr>
          <a:xfrm flipV="1">
            <a:off x="2743200" y="1417320"/>
            <a:ext cx="1097280" cy="137160"/>
          </a:xfrm>
          <a:prstGeom prst="line">
            <a:avLst/>
          </a:prstGeom>
          <a:ln w="19050">
            <a:solidFill>
              <a:srgbClr val="2ec4b6"/>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2" name="Shape 23"/>
          <p:cNvSpPr/>
          <p:nvPr/>
        </p:nvSpPr>
        <p:spPr>
          <a:xfrm>
            <a:off x="2743200" y="1920240"/>
            <a:ext cx="1097280" cy="320040"/>
          </a:xfrm>
          <a:prstGeom prst="line">
            <a:avLst/>
          </a:prstGeom>
          <a:ln w="19050">
            <a:solidFill>
              <a:srgbClr val="2ec4b6"/>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3" name="Shape 24"/>
          <p:cNvSpPr/>
          <p:nvPr/>
        </p:nvSpPr>
        <p:spPr>
          <a:xfrm>
            <a:off x="5852160" y="1417320"/>
            <a:ext cx="731520" cy="360"/>
          </a:xfrm>
          <a:prstGeom prst="line">
            <a:avLst/>
          </a:prstGeom>
          <a:ln w="19050">
            <a:solidFill>
              <a:srgbClr val="a8b8cc"/>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44" name="Shape 25"/>
          <p:cNvSpPr/>
          <p:nvPr/>
        </p:nvSpPr>
        <p:spPr>
          <a:xfrm>
            <a:off x="5852160" y="2240280"/>
            <a:ext cx="731520" cy="360"/>
          </a:xfrm>
          <a:prstGeom prst="line">
            <a:avLst/>
          </a:prstGeom>
          <a:ln w="19050">
            <a:solidFill>
              <a:srgbClr val="a8b8cc"/>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45" name="Shape 26"/>
          <p:cNvSpPr/>
          <p:nvPr/>
        </p:nvSpPr>
        <p:spPr>
          <a:xfrm>
            <a:off x="1737360" y="2103120"/>
            <a:ext cx="360" cy="1188720"/>
          </a:xfrm>
          <a:prstGeom prst="line">
            <a:avLst/>
          </a:prstGeom>
          <a:ln w="19050">
            <a:solidFill>
              <a:srgbClr val="1c7293"/>
            </a:solidFill>
            <a:prstDash val="dash"/>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6" name="Shape 27"/>
          <p:cNvSpPr/>
          <p:nvPr/>
        </p:nvSpPr>
        <p:spPr>
          <a:xfrm>
            <a:off x="4846320" y="2560320"/>
            <a:ext cx="360" cy="731520"/>
          </a:xfrm>
          <a:prstGeom prst="line">
            <a:avLst/>
          </a:prstGeom>
          <a:ln w="19050">
            <a:solidFill>
              <a:srgbClr val="4caf50"/>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7" name="Shape 28"/>
          <p:cNvSpPr/>
          <p:nvPr/>
        </p:nvSpPr>
        <p:spPr>
          <a:xfrm>
            <a:off x="7589520" y="2560320"/>
            <a:ext cx="360" cy="731520"/>
          </a:xfrm>
          <a:prstGeom prst="line">
            <a:avLst/>
          </a:prstGeom>
          <a:ln w="19050">
            <a:solidFill>
              <a:srgbClr val="f44336"/>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8" name="Shape 29"/>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30"/>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150" name="Text 31"/>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6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151"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Technology Stack</a:t>
            </a:r>
            <a:endParaRPr b="0" lang="en-US" sz="3600" spc="-1" strike="noStrike">
              <a:solidFill>
                <a:srgbClr val="ffffff"/>
              </a:solidFill>
              <a:latin typeface="Arial"/>
            </a:endParaRPr>
          </a:p>
        </p:txBody>
      </p:sp>
      <p:sp>
        <p:nvSpPr>
          <p:cNvPr id="153" name="Shape 2"/>
          <p:cNvSpPr/>
          <p:nvPr/>
        </p:nvSpPr>
        <p:spPr>
          <a:xfrm>
            <a:off x="548640" y="105156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Text 3"/>
          <p:cNvSpPr/>
          <p:nvPr/>
        </p:nvSpPr>
        <p:spPr>
          <a:xfrm>
            <a:off x="685800" y="116136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55" name="Text 4"/>
          <p:cNvSpPr/>
          <p:nvPr/>
        </p:nvSpPr>
        <p:spPr>
          <a:xfrm>
            <a:off x="1188720" y="118872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Backend</a:t>
            </a:r>
            <a:endParaRPr b="0" lang="en-US" sz="1500" spc="-1" strike="noStrike">
              <a:solidFill>
                <a:srgbClr val="ffffff"/>
              </a:solidFill>
              <a:latin typeface="Arial"/>
            </a:endParaRPr>
          </a:p>
        </p:txBody>
      </p:sp>
      <p:sp>
        <p:nvSpPr>
          <p:cNvPr id="156" name="Text 5"/>
          <p:cNvSpPr/>
          <p:nvPr/>
        </p:nvSpPr>
        <p:spPr>
          <a:xfrm>
            <a:off x="685800" y="164592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Java 21  ·  Spring Boot 4.0</a:t>
            </a:r>
            <a:endParaRPr b="0" lang="en-US" sz="1100" spc="-1" strike="noStrike">
              <a:solidFill>
                <a:srgbClr val="ffffff"/>
              </a:solidFill>
              <a:latin typeface="Arial"/>
            </a:endParaRPr>
          </a:p>
          <a:p>
            <a:pPr defTabSz="914400">
              <a:lnSpc>
                <a:spcPct val="140000"/>
              </a:lnSpc>
              <a:tabLst>
                <a:tab algn="l" pos="0"/>
              </a:tabLst>
            </a:pPr>
            <a:r>
              <a:rPr b="0" lang="en-US" sz="1100" spc="-1" strike="noStrike">
                <a:solidFill>
                  <a:srgbClr val="e8edf3"/>
                </a:solidFill>
                <a:latin typeface="Calibri"/>
                <a:ea typeface="Calibri"/>
              </a:rPr>
              <a:t>Spring WebSocket  ·  STOMP</a:t>
            </a:r>
            <a:endParaRPr b="0" lang="en-US" sz="1100" spc="-1" strike="noStrike">
              <a:solidFill>
                <a:srgbClr val="ffffff"/>
              </a:solidFill>
              <a:latin typeface="Arial"/>
            </a:endParaRPr>
          </a:p>
        </p:txBody>
      </p:sp>
      <p:sp>
        <p:nvSpPr>
          <p:cNvPr id="157" name="Shape 6"/>
          <p:cNvSpPr/>
          <p:nvPr/>
        </p:nvSpPr>
        <p:spPr>
          <a:xfrm>
            <a:off x="3429000" y="105156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Text 7"/>
          <p:cNvSpPr/>
          <p:nvPr/>
        </p:nvSpPr>
        <p:spPr>
          <a:xfrm>
            <a:off x="3566160" y="116136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59" name="Text 8"/>
          <p:cNvSpPr/>
          <p:nvPr/>
        </p:nvSpPr>
        <p:spPr>
          <a:xfrm>
            <a:off x="4069080" y="118872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Frontend</a:t>
            </a:r>
            <a:endParaRPr b="0" lang="en-US" sz="1500" spc="-1" strike="noStrike">
              <a:solidFill>
                <a:srgbClr val="ffffff"/>
              </a:solidFill>
              <a:latin typeface="Arial"/>
            </a:endParaRPr>
          </a:p>
        </p:txBody>
      </p:sp>
      <p:sp>
        <p:nvSpPr>
          <p:cNvPr id="160" name="Text 9"/>
          <p:cNvSpPr/>
          <p:nvPr/>
        </p:nvSpPr>
        <p:spPr>
          <a:xfrm>
            <a:off x="3566160" y="164592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React 19  ·  Vite 8</a:t>
            </a:r>
            <a:endParaRPr b="0" lang="en-US" sz="1100" spc="-1" strike="noStrike">
              <a:solidFill>
                <a:srgbClr val="ffffff"/>
              </a:solidFill>
              <a:latin typeface="Arial"/>
            </a:endParaRPr>
          </a:p>
          <a:p>
            <a:pPr defTabSz="914400">
              <a:lnSpc>
                <a:spcPct val="140000"/>
              </a:lnSpc>
              <a:tabLst>
                <a:tab algn="l" pos="0"/>
              </a:tabLst>
            </a:pPr>
            <a:r>
              <a:rPr b="0" lang="en-US" sz="1100" spc="-1" strike="noStrike">
                <a:solidFill>
                  <a:srgbClr val="e8edf3"/>
                </a:solidFill>
                <a:latin typeface="Calibri"/>
                <a:ea typeface="Calibri"/>
              </a:rPr>
              <a:t>React Router  ·  Axios</a:t>
            </a:r>
            <a:endParaRPr b="0" lang="en-US" sz="1100" spc="-1" strike="noStrike">
              <a:solidFill>
                <a:srgbClr val="ffffff"/>
              </a:solidFill>
              <a:latin typeface="Arial"/>
            </a:endParaRPr>
          </a:p>
        </p:txBody>
      </p:sp>
      <p:sp>
        <p:nvSpPr>
          <p:cNvPr id="161" name="Shape 10"/>
          <p:cNvSpPr/>
          <p:nvPr/>
        </p:nvSpPr>
        <p:spPr>
          <a:xfrm>
            <a:off x="6309360" y="105156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Text 11"/>
          <p:cNvSpPr/>
          <p:nvPr/>
        </p:nvSpPr>
        <p:spPr>
          <a:xfrm>
            <a:off x="6446520" y="116136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63" name="Text 12"/>
          <p:cNvSpPr/>
          <p:nvPr/>
        </p:nvSpPr>
        <p:spPr>
          <a:xfrm>
            <a:off x="6949440" y="118872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Database</a:t>
            </a:r>
            <a:endParaRPr b="0" lang="en-US" sz="1500" spc="-1" strike="noStrike">
              <a:solidFill>
                <a:srgbClr val="ffffff"/>
              </a:solidFill>
              <a:latin typeface="Arial"/>
            </a:endParaRPr>
          </a:p>
        </p:txBody>
      </p:sp>
      <p:sp>
        <p:nvSpPr>
          <p:cNvPr id="164" name="Text 13"/>
          <p:cNvSpPr/>
          <p:nvPr/>
        </p:nvSpPr>
        <p:spPr>
          <a:xfrm>
            <a:off x="6446520" y="164592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Neon PostgreSQL</a:t>
            </a:r>
            <a:endParaRPr b="0" lang="en-US" sz="1100" spc="-1" strike="noStrike">
              <a:solidFill>
                <a:srgbClr val="ffffff"/>
              </a:solidFill>
              <a:latin typeface="Arial"/>
            </a:endParaRPr>
          </a:p>
          <a:p>
            <a:pPr defTabSz="914400">
              <a:lnSpc>
                <a:spcPct val="140000"/>
              </a:lnSpc>
              <a:tabLst>
                <a:tab algn="l" pos="0"/>
              </a:tabLst>
            </a:pPr>
            <a:r>
              <a:rPr b="0" lang="en-US" sz="1100" spc="-1" strike="noStrike">
                <a:solidFill>
                  <a:srgbClr val="e8edf3"/>
                </a:solidFill>
                <a:latin typeface="Calibri"/>
                <a:ea typeface="Calibri"/>
              </a:rPr>
              <a:t>Spring Data JDBC</a:t>
            </a:r>
            <a:endParaRPr b="0" lang="en-US" sz="1100" spc="-1" strike="noStrike">
              <a:solidFill>
                <a:srgbClr val="ffffff"/>
              </a:solidFill>
              <a:latin typeface="Arial"/>
            </a:endParaRPr>
          </a:p>
        </p:txBody>
      </p:sp>
      <p:sp>
        <p:nvSpPr>
          <p:cNvPr id="165" name="Shape 14"/>
          <p:cNvSpPr/>
          <p:nvPr/>
        </p:nvSpPr>
        <p:spPr>
          <a:xfrm>
            <a:off x="548640" y="274320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6" name="Text 15"/>
          <p:cNvSpPr/>
          <p:nvPr/>
        </p:nvSpPr>
        <p:spPr>
          <a:xfrm>
            <a:off x="685800" y="285300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67" name="Text 16"/>
          <p:cNvSpPr/>
          <p:nvPr/>
        </p:nvSpPr>
        <p:spPr>
          <a:xfrm>
            <a:off x="1188720" y="288036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Security</a:t>
            </a:r>
            <a:endParaRPr b="0" lang="en-US" sz="1500" spc="-1" strike="noStrike">
              <a:solidFill>
                <a:srgbClr val="ffffff"/>
              </a:solidFill>
              <a:latin typeface="Arial"/>
            </a:endParaRPr>
          </a:p>
        </p:txBody>
      </p:sp>
      <p:sp>
        <p:nvSpPr>
          <p:cNvPr id="168" name="Text 17"/>
          <p:cNvSpPr/>
          <p:nvPr/>
        </p:nvSpPr>
        <p:spPr>
          <a:xfrm>
            <a:off x="685800" y="333756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Stateless JWT (HMAC-SHA256)</a:t>
            </a:r>
            <a:endParaRPr b="0" lang="en-US" sz="1100" spc="-1" strike="noStrike">
              <a:solidFill>
                <a:srgbClr val="ffffff"/>
              </a:solidFill>
              <a:latin typeface="Arial"/>
            </a:endParaRPr>
          </a:p>
          <a:p>
            <a:pPr defTabSz="914400">
              <a:lnSpc>
                <a:spcPct val="140000"/>
              </a:lnSpc>
              <a:tabLst>
                <a:tab algn="l" pos="0"/>
              </a:tabLst>
            </a:pPr>
            <a:r>
              <a:rPr b="0" lang="en-US" sz="1100" spc="-1" strike="noStrike">
                <a:solidFill>
                  <a:srgbClr val="e8edf3"/>
                </a:solidFill>
                <a:latin typeface="Calibri"/>
                <a:ea typeface="Calibri"/>
              </a:rPr>
              <a:t>BCrypt password hashing</a:t>
            </a:r>
            <a:endParaRPr b="0" lang="en-US" sz="1100" spc="-1" strike="noStrike">
              <a:solidFill>
                <a:srgbClr val="ffffff"/>
              </a:solidFill>
              <a:latin typeface="Arial"/>
            </a:endParaRPr>
          </a:p>
        </p:txBody>
      </p:sp>
      <p:sp>
        <p:nvSpPr>
          <p:cNvPr id="169" name="Shape 18"/>
          <p:cNvSpPr/>
          <p:nvPr/>
        </p:nvSpPr>
        <p:spPr>
          <a:xfrm>
            <a:off x="3429000" y="274320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Text 19"/>
          <p:cNvSpPr/>
          <p:nvPr/>
        </p:nvSpPr>
        <p:spPr>
          <a:xfrm>
            <a:off x="3566160" y="285300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71" name="Text 20"/>
          <p:cNvSpPr/>
          <p:nvPr/>
        </p:nvSpPr>
        <p:spPr>
          <a:xfrm>
            <a:off x="4069080" y="288036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Code Execution</a:t>
            </a:r>
            <a:endParaRPr b="0" lang="en-US" sz="1500" spc="-1" strike="noStrike">
              <a:solidFill>
                <a:srgbClr val="ffffff"/>
              </a:solidFill>
              <a:latin typeface="Arial"/>
            </a:endParaRPr>
          </a:p>
        </p:txBody>
      </p:sp>
      <p:sp>
        <p:nvSpPr>
          <p:cNvPr id="172" name="Text 21"/>
          <p:cNvSpPr/>
          <p:nvPr/>
        </p:nvSpPr>
        <p:spPr>
          <a:xfrm>
            <a:off x="3566160" y="333756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Judge0 REST API</a:t>
            </a:r>
            <a:endParaRPr b="0" lang="en-US" sz="1100" spc="-1" strike="noStrike">
              <a:solidFill>
                <a:srgbClr val="ffffff"/>
              </a:solidFill>
              <a:latin typeface="Arial"/>
            </a:endParaRPr>
          </a:p>
        </p:txBody>
      </p:sp>
      <p:sp>
        <p:nvSpPr>
          <p:cNvPr id="173" name="Shape 22"/>
          <p:cNvSpPr/>
          <p:nvPr/>
        </p:nvSpPr>
        <p:spPr>
          <a:xfrm>
            <a:off x="6309360" y="2743200"/>
            <a:ext cx="2651400" cy="1416960"/>
          </a:xfrm>
          <a:prstGeom prst="roundRect">
            <a:avLst>
              <a:gd name="adj" fmla="val 6452"/>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4" name="Text 23"/>
          <p:cNvSpPr/>
          <p:nvPr/>
        </p:nvSpPr>
        <p:spPr>
          <a:xfrm>
            <a:off x="6446520" y="2853000"/>
            <a:ext cx="548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pc="-1" strike="noStrike">
                <a:solidFill>
                  <a:srgbClr val="000000"/>
                </a:solidFill>
                <a:latin typeface="Segoe UI Emoji"/>
                <a:ea typeface="Segoe UI Emoji"/>
              </a:rPr>
              <a:t>🏆</a:t>
            </a:r>
            <a:endParaRPr b="0" lang="en-US" sz="2400" spc="-1" strike="noStrike">
              <a:solidFill>
                <a:srgbClr val="ffffff"/>
              </a:solidFill>
              <a:latin typeface="Arial"/>
            </a:endParaRPr>
          </a:p>
        </p:txBody>
      </p:sp>
      <p:sp>
        <p:nvSpPr>
          <p:cNvPr id="175" name="Text 24"/>
          <p:cNvSpPr/>
          <p:nvPr/>
        </p:nvSpPr>
        <p:spPr>
          <a:xfrm>
            <a:off x="6949440" y="2880360"/>
            <a:ext cx="18284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2ec4b6"/>
                </a:solidFill>
                <a:latin typeface="Trebuchet MS"/>
                <a:ea typeface="Trebuchet MS"/>
              </a:rPr>
              <a:t>Rating System</a:t>
            </a:r>
            <a:endParaRPr b="0" lang="en-US" sz="1500" spc="-1" strike="noStrike">
              <a:solidFill>
                <a:srgbClr val="ffffff"/>
              </a:solidFill>
              <a:latin typeface="Arial"/>
            </a:endParaRPr>
          </a:p>
        </p:txBody>
      </p:sp>
      <p:sp>
        <p:nvSpPr>
          <p:cNvPr id="176" name="Text 25"/>
          <p:cNvSpPr/>
          <p:nvPr/>
        </p:nvSpPr>
        <p:spPr>
          <a:xfrm>
            <a:off x="6446520" y="3337560"/>
            <a:ext cx="23770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40000"/>
              </a:lnSpc>
              <a:tabLst>
                <a:tab algn="l" pos="0"/>
              </a:tabLst>
            </a:pPr>
            <a:r>
              <a:rPr b="0" lang="en-US" sz="1100" spc="-1" strike="noStrike">
                <a:solidFill>
                  <a:srgbClr val="e8edf3"/>
                </a:solidFill>
                <a:latin typeface="Calibri"/>
                <a:ea typeface="Calibri"/>
              </a:rPr>
              <a:t>Standard Elo (K=32)</a:t>
            </a:r>
            <a:endParaRPr b="0" lang="en-US" sz="1100" spc="-1" strike="noStrike">
              <a:solidFill>
                <a:srgbClr val="ffffff"/>
              </a:solidFill>
              <a:latin typeface="Arial"/>
            </a:endParaRPr>
          </a:p>
        </p:txBody>
      </p:sp>
      <p:sp>
        <p:nvSpPr>
          <p:cNvPr id="177" name="Shape 26"/>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Text 27"/>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179" name="Text 28"/>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7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180" name="Shape 0"/>
          <p:cNvSpPr/>
          <p:nvPr/>
        </p:nvSpPr>
        <p:spPr>
          <a:xfrm>
            <a:off x="0" y="0"/>
            <a:ext cx="72720" cy="5143320"/>
          </a:xfrm>
          <a:prstGeom prst="rect">
            <a:avLst/>
          </a:prstGeom>
          <a:solidFill>
            <a:srgbClr val="f0c75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1" name="Text 1"/>
          <p:cNvSpPr/>
          <p:nvPr/>
        </p:nvSpPr>
        <p:spPr>
          <a:xfrm>
            <a:off x="54864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pc="-1" strike="noStrike">
                <a:solidFill>
                  <a:srgbClr val="ffffff"/>
                </a:solidFill>
                <a:latin typeface="Trebuchet MS"/>
                <a:ea typeface="Trebuchet MS"/>
              </a:rPr>
              <a:t>Tasks Accomplished</a:t>
            </a:r>
            <a:endParaRPr b="0" lang="en-US" sz="3600" spc="-1" strike="noStrike">
              <a:solidFill>
                <a:srgbClr val="ffffff"/>
              </a:solidFill>
              <a:latin typeface="Arial"/>
            </a:endParaRPr>
          </a:p>
        </p:txBody>
      </p:sp>
      <p:sp>
        <p:nvSpPr>
          <p:cNvPr id="182" name="Shape 2"/>
          <p:cNvSpPr/>
          <p:nvPr/>
        </p:nvSpPr>
        <p:spPr>
          <a:xfrm>
            <a:off x="548640" y="105156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Text 3"/>
          <p:cNvSpPr/>
          <p:nvPr/>
        </p:nvSpPr>
        <p:spPr>
          <a:xfrm>
            <a:off x="640080" y="109728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184" name="Text 4"/>
          <p:cNvSpPr/>
          <p:nvPr/>
        </p:nvSpPr>
        <p:spPr>
          <a:xfrm>
            <a:off x="1005840" y="112464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Backend Core</a:t>
            </a:r>
            <a:endParaRPr b="0" lang="en-US" sz="1300" spc="-1" strike="noStrike">
              <a:solidFill>
                <a:srgbClr val="ffffff"/>
              </a:solidFill>
              <a:latin typeface="Arial"/>
            </a:endParaRPr>
          </a:p>
        </p:txBody>
      </p:sp>
      <p:sp>
        <p:nvSpPr>
          <p:cNvPr id="185" name="Text 5"/>
          <p:cNvSpPr/>
          <p:nvPr/>
        </p:nvSpPr>
        <p:spPr>
          <a:xfrm>
            <a:off x="1005840" y="141732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REST API controllers, JWT auth guards,</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user registration/login, role-based access</a:t>
            </a:r>
            <a:endParaRPr b="0" lang="en-US" sz="1000" spc="-1" strike="noStrike">
              <a:solidFill>
                <a:srgbClr val="ffffff"/>
              </a:solidFill>
              <a:latin typeface="Arial"/>
            </a:endParaRPr>
          </a:p>
        </p:txBody>
      </p:sp>
      <p:sp>
        <p:nvSpPr>
          <p:cNvPr id="186" name="Shape 6"/>
          <p:cNvSpPr/>
          <p:nvPr/>
        </p:nvSpPr>
        <p:spPr>
          <a:xfrm>
            <a:off x="4937760" y="105156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Text 7"/>
          <p:cNvSpPr/>
          <p:nvPr/>
        </p:nvSpPr>
        <p:spPr>
          <a:xfrm>
            <a:off x="5029200" y="109728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188" name="Text 8"/>
          <p:cNvSpPr/>
          <p:nvPr/>
        </p:nvSpPr>
        <p:spPr>
          <a:xfrm>
            <a:off x="5394960" y="112464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Matchmaking</a:t>
            </a:r>
            <a:endParaRPr b="0" lang="en-US" sz="1300" spc="-1" strike="noStrike">
              <a:solidFill>
                <a:srgbClr val="ffffff"/>
              </a:solidFill>
              <a:latin typeface="Arial"/>
            </a:endParaRPr>
          </a:p>
        </p:txBody>
      </p:sp>
      <p:sp>
        <p:nvSpPr>
          <p:cNvPr id="189" name="Text 9"/>
          <p:cNvSpPr/>
          <p:nvPr/>
        </p:nvSpPr>
        <p:spPr>
          <a:xfrm>
            <a:off x="5394960" y="141732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In-memory ConcurrentLinkedQueue,</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1s scan, expanding Elo tolerance</a:t>
            </a:r>
            <a:endParaRPr b="0" lang="en-US" sz="1000" spc="-1" strike="noStrike">
              <a:solidFill>
                <a:srgbClr val="ffffff"/>
              </a:solidFill>
              <a:latin typeface="Arial"/>
            </a:endParaRPr>
          </a:p>
        </p:txBody>
      </p:sp>
      <p:sp>
        <p:nvSpPr>
          <p:cNvPr id="190" name="Shape 10"/>
          <p:cNvSpPr/>
          <p:nvPr/>
        </p:nvSpPr>
        <p:spPr>
          <a:xfrm>
            <a:off x="548640" y="214884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Text 11"/>
          <p:cNvSpPr/>
          <p:nvPr/>
        </p:nvSpPr>
        <p:spPr>
          <a:xfrm>
            <a:off x="640080" y="219456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192" name="Text 12"/>
          <p:cNvSpPr/>
          <p:nvPr/>
        </p:nvSpPr>
        <p:spPr>
          <a:xfrm>
            <a:off x="1005840" y="222192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Match Engine</a:t>
            </a:r>
            <a:endParaRPr b="0" lang="en-US" sz="1300" spc="-1" strike="noStrike">
              <a:solidFill>
                <a:srgbClr val="ffffff"/>
              </a:solidFill>
              <a:latin typeface="Arial"/>
            </a:endParaRPr>
          </a:p>
        </p:txBody>
      </p:sp>
      <p:sp>
        <p:nvSpPr>
          <p:cNvPr id="193" name="Text 13"/>
          <p:cNvSpPr/>
          <p:nvPr/>
        </p:nvSpPr>
        <p:spPr>
          <a:xfrm>
            <a:off x="1005840" y="251460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WebSocket match sessions, problem</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assignment by difficulty, timer sync</a:t>
            </a:r>
            <a:endParaRPr b="0" lang="en-US" sz="1000" spc="-1" strike="noStrike">
              <a:solidFill>
                <a:srgbClr val="ffffff"/>
              </a:solidFill>
              <a:latin typeface="Arial"/>
            </a:endParaRPr>
          </a:p>
        </p:txBody>
      </p:sp>
      <p:sp>
        <p:nvSpPr>
          <p:cNvPr id="194" name="Shape 14"/>
          <p:cNvSpPr/>
          <p:nvPr/>
        </p:nvSpPr>
        <p:spPr>
          <a:xfrm>
            <a:off x="4937760" y="214884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Text 15"/>
          <p:cNvSpPr/>
          <p:nvPr/>
        </p:nvSpPr>
        <p:spPr>
          <a:xfrm>
            <a:off x="5029200" y="219456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196" name="Text 16"/>
          <p:cNvSpPr/>
          <p:nvPr/>
        </p:nvSpPr>
        <p:spPr>
          <a:xfrm>
            <a:off x="5394960" y="222192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Code Evaluation</a:t>
            </a:r>
            <a:endParaRPr b="0" lang="en-US" sz="1300" spc="-1" strike="noStrike">
              <a:solidFill>
                <a:srgbClr val="ffffff"/>
              </a:solidFill>
              <a:latin typeface="Arial"/>
            </a:endParaRPr>
          </a:p>
        </p:txBody>
      </p:sp>
      <p:sp>
        <p:nvSpPr>
          <p:cNvPr id="197" name="Text 17"/>
          <p:cNvSpPr/>
          <p:nvPr/>
        </p:nvSpPr>
        <p:spPr>
          <a:xfrm>
            <a:off x="5394960" y="251460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Judge0 integration, verdict mapping,</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partial scoring, early termination</a:t>
            </a:r>
            <a:endParaRPr b="0" lang="en-US" sz="1000" spc="-1" strike="noStrike">
              <a:solidFill>
                <a:srgbClr val="ffffff"/>
              </a:solidFill>
              <a:latin typeface="Arial"/>
            </a:endParaRPr>
          </a:p>
        </p:txBody>
      </p:sp>
      <p:sp>
        <p:nvSpPr>
          <p:cNvPr id="198" name="Shape 18"/>
          <p:cNvSpPr/>
          <p:nvPr/>
        </p:nvSpPr>
        <p:spPr>
          <a:xfrm>
            <a:off x="548640" y="324612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Text 19"/>
          <p:cNvSpPr/>
          <p:nvPr/>
        </p:nvSpPr>
        <p:spPr>
          <a:xfrm>
            <a:off x="640080" y="329184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200" name="Text 20"/>
          <p:cNvSpPr/>
          <p:nvPr/>
        </p:nvSpPr>
        <p:spPr>
          <a:xfrm>
            <a:off x="1005840" y="331920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Frontend</a:t>
            </a:r>
            <a:endParaRPr b="0" lang="en-US" sz="1300" spc="-1" strike="noStrike">
              <a:solidFill>
                <a:srgbClr val="ffffff"/>
              </a:solidFill>
              <a:latin typeface="Arial"/>
            </a:endParaRPr>
          </a:p>
        </p:txBody>
      </p:sp>
      <p:sp>
        <p:nvSpPr>
          <p:cNvPr id="201" name="Text 21"/>
          <p:cNvSpPr/>
          <p:nvPr/>
        </p:nvSpPr>
        <p:spPr>
          <a:xfrm>
            <a:off x="1005840" y="361188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React SPA: Dashboard, Match, Problem</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Suggestion, Admin Review, Leaderboard</a:t>
            </a:r>
            <a:endParaRPr b="0" lang="en-US" sz="1000" spc="-1" strike="noStrike">
              <a:solidFill>
                <a:srgbClr val="ffffff"/>
              </a:solidFill>
              <a:latin typeface="Arial"/>
            </a:endParaRPr>
          </a:p>
        </p:txBody>
      </p:sp>
      <p:sp>
        <p:nvSpPr>
          <p:cNvPr id="202" name="Shape 22"/>
          <p:cNvSpPr/>
          <p:nvPr/>
        </p:nvSpPr>
        <p:spPr>
          <a:xfrm>
            <a:off x="4937760" y="3246120"/>
            <a:ext cx="4114440" cy="914040"/>
          </a:xfrm>
          <a:prstGeom prst="roundRect">
            <a:avLst>
              <a:gd name="adj" fmla="val 8000"/>
            </a:avLst>
          </a:prstGeom>
          <a:solidFill>
            <a:srgbClr val="162f5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3" name="Text 23"/>
          <p:cNvSpPr/>
          <p:nvPr/>
        </p:nvSpPr>
        <p:spPr>
          <a:xfrm>
            <a:off x="5029200" y="3291840"/>
            <a:ext cx="31968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2ec4b6"/>
                </a:solidFill>
                <a:latin typeface="Calibri"/>
              </a:rPr>
              <a:t>✓</a:t>
            </a:r>
            <a:endParaRPr b="0" lang="en-US" sz="1800" spc="-1" strike="noStrike">
              <a:solidFill>
                <a:srgbClr val="ffffff"/>
              </a:solidFill>
              <a:latin typeface="Arial"/>
            </a:endParaRPr>
          </a:p>
        </p:txBody>
      </p:sp>
      <p:sp>
        <p:nvSpPr>
          <p:cNvPr id="204" name="Text 24"/>
          <p:cNvSpPr/>
          <p:nvPr/>
        </p:nvSpPr>
        <p:spPr>
          <a:xfrm>
            <a:off x="5394960" y="3319200"/>
            <a:ext cx="34743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Trebuchet MS"/>
                <a:ea typeface="Trebuchet MS"/>
              </a:rPr>
              <a:t>Testing</a:t>
            </a:r>
            <a:endParaRPr b="0" lang="en-US" sz="1300" spc="-1" strike="noStrike">
              <a:solidFill>
                <a:srgbClr val="ffffff"/>
              </a:solidFill>
              <a:latin typeface="Arial"/>
            </a:endParaRPr>
          </a:p>
        </p:txBody>
      </p:sp>
      <p:sp>
        <p:nvSpPr>
          <p:cNvPr id="205" name="Text 25"/>
          <p:cNvSpPr/>
          <p:nvPr/>
        </p:nvSpPr>
        <p:spPr>
          <a:xfrm>
            <a:off x="5394960" y="3611880"/>
            <a:ext cx="34743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00" spc="-1" strike="noStrike">
                <a:solidFill>
                  <a:srgbClr val="a8b8cc"/>
                </a:solidFill>
                <a:latin typeface="Calibri"/>
                <a:ea typeface="Calibri"/>
              </a:rPr>
              <a:t>27 automated tests (unit + integration</a:t>
            </a:r>
            <a:endParaRPr b="0" lang="en-US" sz="1000" spc="-1" strike="noStrike">
              <a:solidFill>
                <a:srgbClr val="ffffff"/>
              </a:solidFill>
              <a:latin typeface="Arial"/>
            </a:endParaRPr>
          </a:p>
          <a:p>
            <a:pPr defTabSz="914400">
              <a:lnSpc>
                <a:spcPct val="130000"/>
              </a:lnSpc>
              <a:tabLst>
                <a:tab algn="l" pos="0"/>
              </a:tabLst>
            </a:pPr>
            <a:r>
              <a:rPr b="0" lang="en-US" sz="1000" spc="-1" strike="noStrike">
                <a:solidFill>
                  <a:srgbClr val="a8b8cc"/>
                </a:solidFill>
                <a:latin typeface="Calibri"/>
                <a:ea typeface="Calibri"/>
              </a:rPr>
              <a:t>+ static analysis), IEEE 829 test plan</a:t>
            </a:r>
            <a:endParaRPr b="0" lang="en-US" sz="1000" spc="-1" strike="noStrike">
              <a:solidFill>
                <a:srgbClr val="ffffff"/>
              </a:solidFill>
              <a:latin typeface="Arial"/>
            </a:endParaRPr>
          </a:p>
        </p:txBody>
      </p:sp>
      <p:sp>
        <p:nvSpPr>
          <p:cNvPr id="206" name="Shape 26"/>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7" name="Text 27"/>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08" name="Text 28"/>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8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09"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0"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Dashboard &amp; Leaderboard</a:t>
            </a:r>
            <a:endParaRPr b="0" lang="en-US" sz="3000" spc="-1" strike="noStrike">
              <a:solidFill>
                <a:srgbClr val="ffffff"/>
              </a:solidFill>
              <a:latin typeface="Arial"/>
            </a:endParaRPr>
          </a:p>
        </p:txBody>
      </p:sp>
      <p:sp>
        <p:nvSpPr>
          <p:cNvPr id="211"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After login, users see their profile card (username, Elo rating, match count) and the global leaderboard ranking all players by Elo. Top 3 ranks are highlighted with gold, silver, and bronze styling.</a:t>
            </a:r>
            <a:endParaRPr b="0" lang="en-US" sz="1200" spc="-1" strike="noStrike">
              <a:solidFill>
                <a:srgbClr val="ffffff"/>
              </a:solidFill>
              <a:latin typeface="Arial"/>
            </a:endParaRPr>
          </a:p>
        </p:txBody>
      </p:sp>
      <p:pic>
        <p:nvPicPr>
          <p:cNvPr id="212" name="Image 0" descr="C:\Users\kerem\Projects\CodeColosseum\presentation\screenshots\dashboard and leaderboard.png"/>
          <p:cNvPicPr/>
          <p:nvPr/>
        </p:nvPicPr>
        <p:blipFill>
          <a:blip r:embed="rId1"/>
          <a:stretch/>
        </p:blipFill>
        <p:spPr>
          <a:xfrm>
            <a:off x="5303520" y="548640"/>
            <a:ext cx="3474360" cy="4205880"/>
          </a:xfrm>
          <a:prstGeom prst="rect">
            <a:avLst/>
          </a:prstGeom>
          <a:ln w="0">
            <a:noFill/>
          </a:ln>
        </p:spPr>
      </p:pic>
      <p:sp>
        <p:nvSpPr>
          <p:cNvPr id="213" name="Shape 3"/>
          <p:cNvSpPr/>
          <p:nvPr/>
        </p:nvSpPr>
        <p:spPr>
          <a:xfrm>
            <a:off x="5285160" y="530280"/>
            <a:ext cx="3511080" cy="424260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16"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9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17"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8"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Matchmaking Search</a:t>
            </a:r>
            <a:endParaRPr b="0" lang="en-US" sz="3000" spc="-1" strike="noStrike">
              <a:solidFill>
                <a:srgbClr val="ffffff"/>
              </a:solidFill>
              <a:latin typeface="Arial"/>
            </a:endParaRPr>
          </a:p>
        </p:txBody>
      </p:sp>
      <p:sp>
        <p:nvSpPr>
          <p:cNvPr id="219"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Clicking "Find Match" connects to the matchmaking WebSocket. A live spinner and queue timer show elapsed search time while the system scans for opponents within the user's Elo tolerance window.</a:t>
            </a:r>
            <a:endParaRPr b="0" lang="en-US" sz="1200" spc="-1" strike="noStrike">
              <a:solidFill>
                <a:srgbClr val="ffffff"/>
              </a:solidFill>
              <a:latin typeface="Arial"/>
            </a:endParaRPr>
          </a:p>
        </p:txBody>
      </p:sp>
      <p:pic>
        <p:nvPicPr>
          <p:cNvPr id="220" name="Image 0" descr="C:\Users\kerem\Projects\CodeColosseum\presentation\screenshots\match search.png"/>
          <p:cNvPicPr/>
          <p:nvPr/>
        </p:nvPicPr>
        <p:blipFill>
          <a:blip r:embed="rId1"/>
          <a:stretch/>
        </p:blipFill>
        <p:spPr>
          <a:xfrm>
            <a:off x="4480560" y="1371600"/>
            <a:ext cx="4388760" cy="2102760"/>
          </a:xfrm>
          <a:prstGeom prst="rect">
            <a:avLst/>
          </a:prstGeom>
          <a:ln w="0">
            <a:noFill/>
          </a:ln>
        </p:spPr>
      </p:pic>
      <p:sp>
        <p:nvSpPr>
          <p:cNvPr id="221" name="Shape 3"/>
          <p:cNvSpPr/>
          <p:nvPr/>
        </p:nvSpPr>
        <p:spPr>
          <a:xfrm>
            <a:off x="4462200" y="1353240"/>
            <a:ext cx="4425480" cy="213948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24"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10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25"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6"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Match in Progress</a:t>
            </a:r>
            <a:endParaRPr b="0" lang="en-US" sz="3000" spc="-1" strike="noStrike">
              <a:solidFill>
                <a:srgbClr val="ffffff"/>
              </a:solidFill>
              <a:latin typeface="Arial"/>
            </a:endParaRPr>
          </a:p>
        </p:txBody>
      </p:sp>
      <p:sp>
        <p:nvSpPr>
          <p:cNvPr id="227"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Once matched, both players receive the same problem with statement, constraints, input/output formats, and sample test cases. A code editor with language selection (Java/Python) and a "Submit Solution" button are provided below.</a:t>
            </a:r>
            <a:endParaRPr b="0" lang="en-US" sz="1200" spc="-1" strike="noStrike">
              <a:solidFill>
                <a:srgbClr val="ffffff"/>
              </a:solidFill>
              <a:latin typeface="Arial"/>
            </a:endParaRPr>
          </a:p>
        </p:txBody>
      </p:sp>
      <p:pic>
        <p:nvPicPr>
          <p:cNvPr id="228" name="Image 0" descr="C:\Users\kerem\Projects\CodeColosseum\presentation\screenshots\in match 1.png"/>
          <p:cNvPicPr/>
          <p:nvPr/>
        </p:nvPicPr>
        <p:blipFill>
          <a:blip r:embed="rId1"/>
          <a:stretch/>
        </p:blipFill>
        <p:spPr>
          <a:xfrm>
            <a:off x="3840480" y="1097280"/>
            <a:ext cx="5028840" cy="3291480"/>
          </a:xfrm>
          <a:prstGeom prst="rect">
            <a:avLst/>
          </a:prstGeom>
          <a:ln w="0">
            <a:noFill/>
          </a:ln>
        </p:spPr>
      </p:pic>
      <p:sp>
        <p:nvSpPr>
          <p:cNvPr id="229" name="Shape 3"/>
          <p:cNvSpPr/>
          <p:nvPr/>
        </p:nvSpPr>
        <p:spPr>
          <a:xfrm>
            <a:off x="3822120" y="1078920"/>
            <a:ext cx="5065560" cy="332820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32"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11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33"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4"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Code Submission</a:t>
            </a:r>
            <a:endParaRPr b="0" lang="en-US" sz="3000" spc="-1" strike="noStrike">
              <a:solidFill>
                <a:srgbClr val="ffffff"/>
              </a:solidFill>
              <a:latin typeface="Arial"/>
            </a:endParaRPr>
          </a:p>
        </p:txBody>
      </p:sp>
      <p:sp>
        <p:nvSpPr>
          <p:cNvPr id="235"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Players write their solution in the textarea editor, select their preferred language from the dropdown, and submit. The solution is sent via WebSocket to Judge0 for sandboxed compilation and execution against all test cases.</a:t>
            </a:r>
            <a:endParaRPr b="0" lang="en-US" sz="1200" spc="-1" strike="noStrike">
              <a:solidFill>
                <a:srgbClr val="ffffff"/>
              </a:solidFill>
              <a:latin typeface="Arial"/>
            </a:endParaRPr>
          </a:p>
        </p:txBody>
      </p:sp>
      <p:pic>
        <p:nvPicPr>
          <p:cNvPr id="236" name="Image 0" descr="C:\Users\kerem\Projects\CodeColosseum\presentation\screenshots\in match 2.png"/>
          <p:cNvPicPr/>
          <p:nvPr/>
        </p:nvPicPr>
        <p:blipFill>
          <a:blip r:embed="rId1"/>
          <a:stretch/>
        </p:blipFill>
        <p:spPr>
          <a:xfrm>
            <a:off x="4114800" y="1188720"/>
            <a:ext cx="4754520" cy="3200040"/>
          </a:xfrm>
          <a:prstGeom prst="rect">
            <a:avLst/>
          </a:prstGeom>
          <a:ln w="0">
            <a:noFill/>
          </a:ln>
        </p:spPr>
      </p:pic>
      <p:sp>
        <p:nvSpPr>
          <p:cNvPr id="237" name="Shape 3"/>
          <p:cNvSpPr/>
          <p:nvPr/>
        </p:nvSpPr>
        <p:spPr>
          <a:xfrm>
            <a:off x="4096440" y="1170360"/>
            <a:ext cx="4791240" cy="323676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40"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12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41"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2"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Problem Suggestion</a:t>
            </a:r>
            <a:endParaRPr b="0" lang="en-US" sz="3000" spc="-1" strike="noStrike">
              <a:solidFill>
                <a:srgbClr val="ffffff"/>
              </a:solidFill>
              <a:latin typeface="Arial"/>
            </a:endParaRPr>
          </a:p>
        </p:txBody>
      </p:sp>
      <p:sp>
        <p:nvSpPr>
          <p:cNvPr id="243"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Any user can propose a new programming problem by filling out the title, problem statement, input/output format, constraints, difficulty level, and test cases (input + expected output pairs).</a:t>
            </a:r>
            <a:endParaRPr b="0" lang="en-US" sz="1200" spc="-1" strike="noStrike">
              <a:solidFill>
                <a:srgbClr val="ffffff"/>
              </a:solidFill>
              <a:latin typeface="Arial"/>
            </a:endParaRPr>
          </a:p>
        </p:txBody>
      </p:sp>
      <p:pic>
        <p:nvPicPr>
          <p:cNvPr id="244" name="Image 0" descr="C:\Users\kerem\Projects\CodeColosseum\presentation\screenshots\suggest a problem 1.png"/>
          <p:cNvPicPr/>
          <p:nvPr/>
        </p:nvPicPr>
        <p:blipFill>
          <a:blip r:embed="rId1"/>
          <a:stretch/>
        </p:blipFill>
        <p:spPr>
          <a:xfrm>
            <a:off x="5212080" y="548640"/>
            <a:ext cx="3657240" cy="3840120"/>
          </a:xfrm>
          <a:prstGeom prst="rect">
            <a:avLst/>
          </a:prstGeom>
          <a:ln w="0">
            <a:noFill/>
          </a:ln>
        </p:spPr>
      </p:pic>
      <p:sp>
        <p:nvSpPr>
          <p:cNvPr id="245" name="Shape 3"/>
          <p:cNvSpPr/>
          <p:nvPr/>
        </p:nvSpPr>
        <p:spPr>
          <a:xfrm>
            <a:off x="5193720" y="530280"/>
            <a:ext cx="3693960" cy="387684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48"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13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a"/>
        </a:solidFill>
      </p:bgPr>
    </p:bg>
    <p:spTree>
      <p:nvGrpSpPr>
        <p:cNvPr id="1" name=""/>
        <p:cNvGrpSpPr/>
        <p:nvPr/>
      </p:nvGrpSpPr>
      <p:grpSpPr>
        <a:xfrm>
          <a:off x="0" y="0"/>
          <a:ext cx="0" cy="0"/>
          <a:chOff x="0" y="0"/>
          <a:chExt cx="0" cy="0"/>
        </a:xfrm>
      </p:grpSpPr>
      <p:sp>
        <p:nvSpPr>
          <p:cNvPr id="249" name="Shape 0"/>
          <p:cNvSpPr/>
          <p:nvPr/>
        </p:nvSpPr>
        <p:spPr>
          <a:xfrm>
            <a:off x="0" y="0"/>
            <a:ext cx="72720" cy="5143320"/>
          </a:xfrm>
          <a:prstGeom prst="rect">
            <a:avLst/>
          </a:prstGeom>
          <a:solidFill>
            <a:srgbClr val="1c729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0" name="Text 1"/>
          <p:cNvSpPr/>
          <p:nvPr/>
        </p:nvSpPr>
        <p:spPr>
          <a:xfrm>
            <a:off x="548640" y="274320"/>
            <a:ext cx="45716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Trebuchet MS"/>
                <a:ea typeface="Trebuchet MS"/>
              </a:rPr>
              <a:t>Admin Review &amp; Approval</a:t>
            </a:r>
            <a:endParaRPr b="0" lang="en-US" sz="3000" spc="-1" strike="noStrike">
              <a:solidFill>
                <a:srgbClr val="ffffff"/>
              </a:solidFill>
              <a:latin typeface="Arial"/>
            </a:endParaRPr>
          </a:p>
        </p:txBody>
      </p:sp>
      <p:sp>
        <p:nvSpPr>
          <p:cNvPr id="251" name="Text 2"/>
          <p:cNvSpPr/>
          <p:nvPr/>
        </p:nvSpPr>
        <p:spPr>
          <a:xfrm>
            <a:off x="548640" y="1097280"/>
            <a:ext cx="3108600" cy="320004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n-US" sz="1200" spc="-1" strike="noStrike">
                <a:solidFill>
                  <a:srgbClr val="e8edf3"/>
                </a:solidFill>
                <a:latin typeface="Calibri"/>
                <a:ea typeface="Calibri"/>
              </a:rPr>
              <a:t>Administrators see pending problems with full detail. Each problem can be reviewed for correctness and approved or rejected. Approved problems enter the active pool and become available during matches.</a:t>
            </a:r>
            <a:endParaRPr b="0" lang="en-US" sz="1200" spc="-1" strike="noStrike">
              <a:solidFill>
                <a:srgbClr val="ffffff"/>
              </a:solidFill>
              <a:latin typeface="Arial"/>
            </a:endParaRPr>
          </a:p>
        </p:txBody>
      </p:sp>
      <p:pic>
        <p:nvPicPr>
          <p:cNvPr id="252" name="Image 0" descr="C:\Users\kerem\Projects\CodeColosseum\presentation\screenshots\admin pending problem review approve reject page.png"/>
          <p:cNvPicPr/>
          <p:nvPr/>
        </p:nvPicPr>
        <p:blipFill>
          <a:blip r:embed="rId1"/>
          <a:stretch/>
        </p:blipFill>
        <p:spPr>
          <a:xfrm>
            <a:off x="3840480" y="1097280"/>
            <a:ext cx="5120280" cy="3200040"/>
          </a:xfrm>
          <a:prstGeom prst="rect">
            <a:avLst/>
          </a:prstGeom>
          <a:ln w="0">
            <a:noFill/>
          </a:ln>
        </p:spPr>
      </p:pic>
      <p:sp>
        <p:nvSpPr>
          <p:cNvPr id="253" name="Shape 3"/>
          <p:cNvSpPr/>
          <p:nvPr/>
        </p:nvSpPr>
        <p:spPr>
          <a:xfrm>
            <a:off x="3822120" y="1078920"/>
            <a:ext cx="5157000" cy="3236760"/>
          </a:xfrm>
          <a:prstGeom prst="rect">
            <a:avLst/>
          </a:prstGeom>
          <a:noFill/>
          <a:ln w="6350">
            <a:solidFill>
              <a:srgbClr val="6b7d9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4" name="Shape 4"/>
          <p:cNvSpPr/>
          <p:nvPr/>
        </p:nvSpPr>
        <p:spPr>
          <a:xfrm>
            <a:off x="0" y="4892040"/>
            <a:ext cx="9143640" cy="136800"/>
          </a:xfrm>
          <a:prstGeom prst="rect">
            <a:avLst/>
          </a:prstGeom>
          <a:solidFill>
            <a:srgbClr val="132e5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Text 5"/>
          <p:cNvSpPr/>
          <p:nvPr/>
        </p:nvSpPr>
        <p:spPr>
          <a:xfrm>
            <a:off x="457200" y="4892040"/>
            <a:ext cx="8229240" cy="136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pc="-1" strike="noStrike">
                <a:solidFill>
                  <a:srgbClr val="a8b8cc"/>
                </a:solidFill>
                <a:latin typeface="Calibri"/>
                <a:ea typeface="Calibri"/>
              </a:rPr>
              <a:t>CodeColosseum  ·  CSE3044 Software Engineering  ·  Spring 2025–2026</a:t>
            </a:r>
            <a:endParaRPr b="0" lang="en-US" sz="700" spc="-1" strike="noStrike">
              <a:solidFill>
                <a:srgbClr val="ffffff"/>
              </a:solidFill>
              <a:latin typeface="Arial"/>
            </a:endParaRPr>
          </a:p>
        </p:txBody>
      </p:sp>
      <p:sp>
        <p:nvSpPr>
          <p:cNvPr id="256" name="Text 6"/>
          <p:cNvSpPr/>
          <p:nvPr/>
        </p:nvSpPr>
        <p:spPr>
          <a:xfrm>
            <a:off x="7772400" y="4754880"/>
            <a:ext cx="118836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1" strike="noStrike">
                <a:solidFill>
                  <a:srgbClr val="a8b8cc"/>
                </a:solidFill>
                <a:latin typeface="Calibri"/>
                <a:ea typeface="Calibri"/>
              </a:rPr>
              <a:t>14 / 14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LibreOffice/7.6.2.1$Windows_X86_64 LibreOffice_project/56f7684011345957bbf33a7ee678afaf4d2ba333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2026-05-29T12:38:23Z</dcterms:created>
  <dc:creator>Kerem Adalı · Buğra Kaya · Ali Talip Keleş</dc:creator>
  <dc:description/>
  <dc:language>en-US</dc:language>
  <cp:lastModifiedBy/>
  <dcterms:modified xsi:type="dcterms:W3CDTF">2026-05-29T15:55:17Z</dcterms:modified>
  <cp:revision>2</cp:revision>
  <dc:subject>PptxGenJS Presentation</dc:subject>
  <dc:title>CodeColosseum - 1v1 Competitive Coding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On-screen Show (16:9)</vt:lpwstr>
  </property>
  <property fmtid="{D5CDD505-2E9C-101B-9397-08002B2CF9AE}" pid="4" name="Slides">
    <vt:i4>14</vt:i4>
  </property>
</Properties>
</file>